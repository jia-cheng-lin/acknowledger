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  <p:sldId id="264" r:id="rId10"/>
    <p:sldId id="266" r:id="rId11"/>
    <p:sldId id="276" r:id="rId12"/>
    <p:sldId id="277" r:id="rId13"/>
    <p:sldId id="268" r:id="rId14"/>
    <p:sldId id="282" r:id="rId15"/>
    <p:sldId id="283" r:id="rId16"/>
    <p:sldId id="284" r:id="rId17"/>
    <p:sldId id="285" r:id="rId18"/>
    <p:sldId id="288" r:id="rId19"/>
    <p:sldId id="289" r:id="rId20"/>
    <p:sldId id="292" r:id="rId21"/>
    <p:sldId id="293" r:id="rId22"/>
    <p:sldId id="296" r:id="rId23"/>
    <p:sldId id="297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6" r:id="rId33"/>
    <p:sldId id="317" r:id="rId34"/>
    <p:sldId id="319" r:id="rId35"/>
    <p:sldId id="327" r:id="rId36"/>
    <p:sldId id="330" r:id="rId37"/>
    <p:sldId id="328" r:id="rId38"/>
    <p:sldId id="329" r:id="rId39"/>
    <p:sldId id="267" r:id="rId40"/>
    <p:sldId id="270" r:id="rId41"/>
    <p:sldId id="269" r:id="rId42"/>
    <p:sldId id="279" r:id="rId43"/>
    <p:sldId id="278" r:id="rId44"/>
    <p:sldId id="280" r:id="rId45"/>
    <p:sldId id="281" r:id="rId46"/>
    <p:sldId id="272" r:id="rId47"/>
    <p:sldId id="274" r:id="rId48"/>
    <p:sldId id="273" r:id="rId49"/>
    <p:sldId id="286" r:id="rId50"/>
    <p:sldId id="287" r:id="rId51"/>
    <p:sldId id="290" r:id="rId52"/>
    <p:sldId id="291" r:id="rId53"/>
    <p:sldId id="294" r:id="rId54"/>
    <p:sldId id="295" r:id="rId55"/>
    <p:sldId id="298" r:id="rId56"/>
    <p:sldId id="299" r:id="rId57"/>
    <p:sldId id="300" r:id="rId58"/>
    <p:sldId id="301" r:id="rId59"/>
    <p:sldId id="302" r:id="rId60"/>
    <p:sldId id="303" r:id="rId61"/>
    <p:sldId id="312" r:id="rId62"/>
    <p:sldId id="313" r:id="rId63"/>
    <p:sldId id="318" r:id="rId64"/>
    <p:sldId id="314" r:id="rId65"/>
    <p:sldId id="315" r:id="rId66"/>
    <p:sldId id="326" r:id="rId67"/>
    <p:sldId id="324" r:id="rId68"/>
    <p:sldId id="323" r:id="rId69"/>
    <p:sldId id="322" r:id="rId70"/>
    <p:sldId id="321" r:id="rId71"/>
    <p:sldId id="320" r:id="rId72"/>
    <p:sldId id="265" r:id="rId73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" id="{E8BD7024-58B6-488C-80F8-2E2AFD0E4614}">
          <p14:sldIdLst>
            <p14:sldId id="256"/>
            <p14:sldId id="257"/>
            <p14:sldId id="258"/>
            <p14:sldId id="262"/>
            <p14:sldId id="263"/>
            <p14:sldId id="259"/>
            <p14:sldId id="260"/>
            <p14:sldId id="261"/>
          </p14:sldIdLst>
        </p14:section>
        <p14:section name="Speech" id="{D635D0DB-D5C7-4276-8430-74E3D8BCF690}">
          <p14:sldIdLst>
            <p14:sldId id="264"/>
            <p14:sldId id="266"/>
            <p14:sldId id="276"/>
            <p14:sldId id="277"/>
            <p14:sldId id="268"/>
            <p14:sldId id="282"/>
            <p14:sldId id="283"/>
            <p14:sldId id="284"/>
            <p14:sldId id="285"/>
            <p14:sldId id="288"/>
            <p14:sldId id="289"/>
            <p14:sldId id="292"/>
            <p14:sldId id="293"/>
            <p14:sldId id="296"/>
            <p14:sldId id="297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6"/>
            <p14:sldId id="317"/>
            <p14:sldId id="319"/>
            <p14:sldId id="327"/>
            <p14:sldId id="330"/>
            <p14:sldId id="328"/>
            <p14:sldId id="329"/>
          </p14:sldIdLst>
        </p14:section>
        <p14:section name="English" id="{0F3F047F-2386-4395-A6D6-8A018CD0AC7B}">
          <p14:sldIdLst>
            <p14:sldId id="267"/>
            <p14:sldId id="270"/>
            <p14:sldId id="269"/>
            <p14:sldId id="279"/>
            <p14:sldId id="278"/>
            <p14:sldId id="280"/>
            <p14:sldId id="281"/>
            <p14:sldId id="272"/>
            <p14:sldId id="274"/>
            <p14:sldId id="273"/>
            <p14:sldId id="286"/>
            <p14:sldId id="287"/>
            <p14:sldId id="290"/>
            <p14:sldId id="291"/>
            <p14:sldId id="294"/>
            <p14:sldId id="295"/>
            <p14:sldId id="298"/>
            <p14:sldId id="299"/>
            <p14:sldId id="300"/>
            <p14:sldId id="301"/>
            <p14:sldId id="302"/>
            <p14:sldId id="303"/>
            <p14:sldId id="312"/>
            <p14:sldId id="313"/>
            <p14:sldId id="318"/>
            <p14:sldId id="314"/>
            <p14:sldId id="315"/>
          </p14:sldIdLst>
        </p14:section>
        <p14:section name="AI tools" id="{15CC6D2F-F54B-40D8-BAA5-D605493B0818}">
          <p14:sldIdLst>
            <p14:sldId id="326"/>
            <p14:sldId id="324"/>
            <p14:sldId id="323"/>
            <p14:sldId id="322"/>
            <p14:sldId id="321"/>
            <p14:sldId id="320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935D"/>
    <a:srgbClr val="FFDDA2"/>
    <a:srgbClr val="E7CAB6"/>
    <a:srgbClr val="985CB0"/>
    <a:srgbClr val="6B3D7E"/>
    <a:srgbClr val="4E3259"/>
    <a:srgbClr val="1C2639"/>
    <a:srgbClr val="2A2A35"/>
    <a:srgbClr val="121212"/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74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89C8-81A4-4118-AAB6-322C1EAEC1D4}" type="datetimeFigureOut">
              <a:rPr lang="zh-TW" altLang="en-US" smtClean="0"/>
              <a:t>2025/5/10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98CF-8C27-4A52-87A5-ABA46499C0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9089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89C8-81A4-4118-AAB6-322C1EAEC1D4}" type="datetimeFigureOut">
              <a:rPr lang="zh-TW" altLang="en-US" smtClean="0"/>
              <a:t>2025/5/10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98CF-8C27-4A52-87A5-ABA46499C0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8505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89C8-81A4-4118-AAB6-322C1EAEC1D4}" type="datetimeFigureOut">
              <a:rPr lang="zh-TW" altLang="en-US" smtClean="0"/>
              <a:t>2025/5/10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98CF-8C27-4A52-87A5-ABA46499C0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330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89C8-81A4-4118-AAB6-322C1EAEC1D4}" type="datetimeFigureOut">
              <a:rPr lang="zh-TW" altLang="en-US" smtClean="0"/>
              <a:t>2025/5/10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98CF-8C27-4A52-87A5-ABA46499C0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30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89C8-81A4-4118-AAB6-322C1EAEC1D4}" type="datetimeFigureOut">
              <a:rPr lang="zh-TW" altLang="en-US" smtClean="0"/>
              <a:t>2025/5/10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98CF-8C27-4A52-87A5-ABA46499C0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5393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89C8-81A4-4118-AAB6-322C1EAEC1D4}" type="datetimeFigureOut">
              <a:rPr lang="zh-TW" altLang="en-US" smtClean="0"/>
              <a:t>2025/5/10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98CF-8C27-4A52-87A5-ABA46499C0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061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89C8-81A4-4118-AAB6-322C1EAEC1D4}" type="datetimeFigureOut">
              <a:rPr lang="zh-TW" altLang="en-US" smtClean="0"/>
              <a:t>2025/5/10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98CF-8C27-4A52-87A5-ABA46499C0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3137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89C8-81A4-4118-AAB6-322C1EAEC1D4}" type="datetimeFigureOut">
              <a:rPr lang="zh-TW" altLang="en-US" smtClean="0"/>
              <a:t>2025/5/10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98CF-8C27-4A52-87A5-ABA46499C0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6979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89C8-81A4-4118-AAB6-322C1EAEC1D4}" type="datetimeFigureOut">
              <a:rPr lang="zh-TW" altLang="en-US" smtClean="0"/>
              <a:t>2025/5/10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98CF-8C27-4A52-87A5-ABA46499C0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356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89C8-81A4-4118-AAB6-322C1EAEC1D4}" type="datetimeFigureOut">
              <a:rPr lang="zh-TW" altLang="en-US" smtClean="0"/>
              <a:t>2025/5/10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98CF-8C27-4A52-87A5-ABA46499C0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1036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89C8-81A4-4118-AAB6-322C1EAEC1D4}" type="datetimeFigureOut">
              <a:rPr lang="zh-TW" altLang="en-US" smtClean="0"/>
              <a:t>2025/5/10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98CF-8C27-4A52-87A5-ABA46499C0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0446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989C8-81A4-4118-AAB6-322C1EAEC1D4}" type="datetimeFigureOut">
              <a:rPr lang="zh-TW" altLang="en-US" smtClean="0"/>
              <a:t>2025/5/10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798CF-8C27-4A52-87A5-ABA46499C0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30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0CC67D-5274-4402-9E39-68DEA8FB53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27187C-1A02-4D0F-BC1C-CC42720E9B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445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5AA52B-2934-4DA7-AFD5-CAAB70B0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52" y="2903889"/>
            <a:ext cx="6209407" cy="1391534"/>
          </a:xfrm>
        </p:spPr>
        <p:txBody>
          <a:bodyPr>
            <a:normAutofit/>
          </a:bodyPr>
          <a:lstStyle/>
          <a:p>
            <a:pPr algn="ctr"/>
            <a:r>
              <a:rPr lang="en-US" altLang="zh-TW" sz="7200" dirty="0" err="1">
                <a:latin typeface="+mn-lt"/>
              </a:rPr>
              <a:t>Foodocol</a:t>
            </a:r>
            <a:endParaRPr lang="zh-TW" altLang="en-US" sz="7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72683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5AA52B-2934-4DA7-AFD5-CAAB70B0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52" y="2903889"/>
            <a:ext cx="6209407" cy="1391534"/>
          </a:xfrm>
        </p:spPr>
        <p:txBody>
          <a:bodyPr>
            <a:normAutofit/>
          </a:bodyPr>
          <a:lstStyle/>
          <a:p>
            <a:pPr algn="ctr"/>
            <a:r>
              <a:rPr lang="en-US" altLang="zh-TW" sz="7200" dirty="0" err="1">
                <a:latin typeface="+mn-lt"/>
              </a:rPr>
              <a:t>Emouter</a:t>
            </a:r>
            <a:endParaRPr lang="zh-TW" altLang="en-US" sz="7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016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5B5BDF-310C-4438-9755-F9A391544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08197-1228-4639-8C96-F03E202B4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我們可能會有些情緒，在抒發後才後悔</a:t>
            </a:r>
            <a:endParaRPr lang="en-US" altLang="zh-TW" dirty="0"/>
          </a:p>
          <a:p>
            <a:r>
              <a:rPr lang="zh-TW" altLang="en-US" dirty="0"/>
              <a:t>那何不記錄下來，再回頭看自己成長多少</a:t>
            </a:r>
            <a:endParaRPr lang="en-US" altLang="zh-TW" dirty="0"/>
          </a:p>
          <a:p>
            <a:r>
              <a:rPr lang="zh-TW" altLang="en-US" dirty="0"/>
              <a:t>我好像一直很難放過自己</a:t>
            </a:r>
            <a:endParaRPr lang="en-US" altLang="zh-TW" dirty="0"/>
          </a:p>
          <a:p>
            <a:r>
              <a:rPr lang="zh-TW" altLang="en-US" dirty="0"/>
              <a:t>所以打下來，好像就比較能放得下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給自己的低靡，一個出去的空間吧！</a:t>
            </a:r>
          </a:p>
        </p:txBody>
      </p:sp>
    </p:spTree>
    <p:extLst>
      <p:ext uri="{BB962C8B-B14F-4D97-AF65-F5344CB8AC3E}">
        <p14:creationId xmlns:p14="http://schemas.microsoft.com/office/powerpoint/2010/main" val="3793813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E64C02-863D-48B5-9F85-EB2C54C05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30F095-07B7-4B34-8B9B-3141705DA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檢討過去沒有用，但希望能從中找到一些東西，可能是自己的不足、可能是可以改變的視角、可能是下次再遇到時可以怎麼更好的處理。</a:t>
            </a:r>
          </a:p>
          <a:p>
            <a:r>
              <a:rPr lang="zh-TW" altLang="en-US" dirty="0"/>
              <a:t>回首過去，展望未來。或許抱怨沒有不好，但我是在抱怨過去的經歷中，逼自己有所學習、斬獲一些新的想法，這樣才會有所改變，雖然未必是好，但至少有改變</a:t>
            </a:r>
            <a:endParaRPr lang="en-US" altLang="zh-TW" dirty="0"/>
          </a:p>
          <a:p>
            <a:r>
              <a:rPr lang="zh-TW" altLang="en-US" dirty="0"/>
              <a:t>有事情忙碌中，比較不會胡思亂想，而有過多的情緒</a:t>
            </a:r>
            <a:endParaRPr lang="en-US" altLang="zh-TW" dirty="0"/>
          </a:p>
          <a:p>
            <a:r>
              <a:rPr lang="zh-TW" altLang="en-US" dirty="0"/>
              <a:t>不要一副背負了很多的樣子</a:t>
            </a:r>
          </a:p>
          <a:p>
            <a:r>
              <a:rPr lang="zh-TW" altLang="en-US" dirty="0"/>
              <a:t>輕鬆點，沒那麼重要的！</a:t>
            </a:r>
            <a:endParaRPr lang="en-US" altLang="zh-TW" dirty="0"/>
          </a:p>
          <a:p>
            <a:r>
              <a:rPr lang="zh-TW" altLang="en-US" dirty="0"/>
              <a:t>堅持的終點不是沒有毅力</a:t>
            </a:r>
          </a:p>
          <a:p>
            <a:r>
              <a:rPr lang="zh-TW" altLang="en-US" dirty="0"/>
              <a:t>而是重新開始</a:t>
            </a:r>
            <a:endParaRPr lang="en-US" altLang="zh-TW" dirty="0"/>
          </a:p>
          <a:p>
            <a:r>
              <a:rPr lang="zh-TW" altLang="en-US" dirty="0"/>
              <a:t>一句話，能觸動人心</a:t>
            </a:r>
          </a:p>
          <a:p>
            <a:r>
              <a:rPr lang="zh-TW" altLang="en-US"/>
              <a:t>能有所改變，那才是我想做的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8501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5AA52B-2934-4DA7-AFD5-CAAB70B0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52" y="2903889"/>
            <a:ext cx="6209407" cy="1391534"/>
          </a:xfrm>
        </p:spPr>
        <p:txBody>
          <a:bodyPr>
            <a:normAutofit/>
          </a:bodyPr>
          <a:lstStyle/>
          <a:p>
            <a:pPr algn="ctr"/>
            <a:r>
              <a:rPr lang="en-US" altLang="zh-TW" sz="7200" dirty="0">
                <a:latin typeface="+mn-lt"/>
              </a:rPr>
              <a:t>Acknowledger</a:t>
            </a:r>
            <a:endParaRPr lang="zh-TW" altLang="en-US" sz="7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7512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B8E0CF-0EDD-4DED-A76C-5F0DE39D3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470454-9FF7-4BDE-8E75-66EE3DF33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只是想分享一些資訊，也讓自己可以整理整理</a:t>
            </a:r>
            <a:endParaRPr lang="en-US" altLang="zh-TW" dirty="0"/>
          </a:p>
          <a:p>
            <a:r>
              <a:rPr lang="zh-TW" altLang="en-US" dirty="0"/>
              <a:t>可能是演講的、課程的</a:t>
            </a:r>
            <a:endParaRPr lang="en-US" altLang="zh-TW" dirty="0"/>
          </a:p>
          <a:p>
            <a:r>
              <a:rPr lang="zh-TW" altLang="en-US" dirty="0"/>
              <a:t>或者是一些該拾起的，生活常識</a:t>
            </a:r>
          </a:p>
        </p:txBody>
      </p:sp>
    </p:spTree>
    <p:extLst>
      <p:ext uri="{BB962C8B-B14F-4D97-AF65-F5344CB8AC3E}">
        <p14:creationId xmlns:p14="http://schemas.microsoft.com/office/powerpoint/2010/main" val="872155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51A725-32D1-4E14-A264-279FE71E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6A03A7-7AC0-434C-B017-FD6F43B88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Do you full of acknowledgement?</a:t>
            </a:r>
          </a:p>
          <a:p>
            <a:r>
              <a:rPr lang="en-US" altLang="zh-TW" dirty="0"/>
              <a:t>Do you still want to get more acknowledge?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3801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97" y="1633616"/>
            <a:ext cx="5319181" cy="2145869"/>
          </a:xfrm>
        </p:spPr>
        <p:txBody>
          <a:bodyPr>
            <a:noAutofit/>
          </a:bodyPr>
          <a:lstStyle/>
          <a:p>
            <a:r>
              <a:rPr lang="en-US" altLang="zh-TW" sz="4800" b="1" dirty="0">
                <a:latin typeface="+mn-lt"/>
                <a:ea typeface="微軟正黑體" panose="020B0604030504040204" pitchFamily="34" charset="-120"/>
              </a:rPr>
              <a:t>Just want to share</a:t>
            </a:r>
            <a:r>
              <a:rPr lang="zh-TW" altLang="en-US" sz="4800" b="1" dirty="0">
                <a:latin typeface="+mn-lt"/>
                <a:ea typeface="微軟正黑體" panose="020B0604030504040204" pitchFamily="34" charset="-120"/>
              </a:rPr>
              <a:t> </a:t>
            </a:r>
            <a:r>
              <a:rPr lang="en-US" altLang="zh-TW" sz="4800" b="1" dirty="0">
                <a:latin typeface="+mn-lt"/>
                <a:ea typeface="微軟正黑體" panose="020B0604030504040204" pitchFamily="34" charset="-120"/>
              </a:rPr>
              <a:t>some</a:t>
            </a:r>
            <a:r>
              <a:rPr lang="zh-TW" altLang="en-US" sz="4800" b="1" dirty="0">
                <a:latin typeface="+mn-lt"/>
                <a:ea typeface="微軟正黑體" panose="020B0604030504040204" pitchFamily="34" charset="-120"/>
              </a:rPr>
              <a:t> </a:t>
            </a:r>
            <a:r>
              <a:rPr lang="en-US" altLang="zh-TW" sz="4800" b="1" dirty="0">
                <a:latin typeface="+mn-lt"/>
                <a:ea typeface="微軟正黑體" panose="020B0604030504040204" pitchFamily="34" charset="-120"/>
              </a:rPr>
              <a:t>acknowledge for you!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2752928" y="5052706"/>
            <a:ext cx="3721824" cy="6928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By Acknowledger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0095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162409"/>
            <a:ext cx="5181995" cy="1437247"/>
          </a:xfrm>
        </p:spPr>
        <p:txBody>
          <a:bodyPr>
            <a:normAutofit/>
          </a:bodyPr>
          <a:lstStyle/>
          <a:p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科學是確定的嗎？</a:t>
            </a:r>
            <a:b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我們的態度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765173" y="4661156"/>
            <a:ext cx="4709579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講者：王泉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汕頭大學 執行校長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2141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1"/>
            <a:ext cx="5800217" cy="1577076"/>
          </a:xfrm>
        </p:spPr>
        <p:txBody>
          <a:bodyPr>
            <a:normAutofit fontScale="90000"/>
          </a:bodyPr>
          <a:lstStyle/>
          <a:p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 Wings: </a:t>
            </a:r>
            <a:b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無人機之現況與展望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765173" y="4661156"/>
            <a:ext cx="4709579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講者：賴冠廷 副教授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北科大 電子工程學系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3469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1"/>
            <a:ext cx="5800217" cy="1577076"/>
          </a:xfrm>
        </p:spPr>
        <p:txBody>
          <a:bodyPr>
            <a:normAutofit fontScale="90000"/>
          </a:bodyPr>
          <a:lstStyle/>
          <a:p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鈣鈦礦太陽能電池在</a:t>
            </a:r>
            <a:b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太空應用的機會與挑戰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551393" y="4661156"/>
            <a:ext cx="4923359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講者：李坤穆 教授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長庚大學化工與材料工程學系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3919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4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546" y="1903896"/>
            <a:ext cx="5800217" cy="196568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The Future of Sensors - AI Sensor Applications in Edge Computing</a:t>
            </a:r>
            <a:endParaRPr lang="zh-TW" altLang="en-US" sz="3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683465" y="4499332"/>
            <a:ext cx="4868726" cy="1246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9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講者：賴孟煌 董事長</a:t>
            </a:r>
            <a:endParaRPr lang="en-US" altLang="zh-TW" sz="39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</a:t>
            </a:r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愛盛科技股份有限公司</a:t>
            </a:r>
          </a:p>
        </p:txBody>
      </p:sp>
    </p:spTree>
    <p:extLst>
      <p:ext uri="{BB962C8B-B14F-4D97-AF65-F5344CB8AC3E}">
        <p14:creationId xmlns:p14="http://schemas.microsoft.com/office/powerpoint/2010/main" val="219898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4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546" y="1903896"/>
            <a:ext cx="5800217" cy="196568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同儕間親密互動 </a:t>
            </a:r>
            <a:r>
              <a:rPr lang="en-US" altLang="zh-TW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vs. </a:t>
            </a:r>
            <a:br>
              <a:rPr lang="en-US" altLang="zh-TW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性騷擾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683465" y="4499332"/>
            <a:ext cx="4868726" cy="1246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9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講者：羅燦煐 教授</a:t>
            </a:r>
            <a:endParaRPr lang="en-US" altLang="zh-TW" sz="39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</a:t>
            </a:r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世新大學性別研究所</a:t>
            </a:r>
          </a:p>
        </p:txBody>
      </p:sp>
    </p:spTree>
    <p:extLst>
      <p:ext uri="{BB962C8B-B14F-4D97-AF65-F5344CB8AC3E}">
        <p14:creationId xmlns:p14="http://schemas.microsoft.com/office/powerpoint/2010/main" val="2375862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4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546" y="1903896"/>
            <a:ext cx="5800217" cy="196568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TW" altLang="en-US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製程監控之少量樣本學習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683464" y="4499332"/>
            <a:ext cx="5280509" cy="1246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9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講者：吳宗亮 副教授</a:t>
            </a:r>
            <a:endParaRPr lang="en-US" altLang="zh-TW" sz="39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</a:t>
            </a:r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高雄科技大學 機電工程系</a:t>
            </a:r>
          </a:p>
        </p:txBody>
      </p:sp>
    </p:spTree>
    <p:extLst>
      <p:ext uri="{BB962C8B-B14F-4D97-AF65-F5344CB8AC3E}">
        <p14:creationId xmlns:p14="http://schemas.microsoft.com/office/powerpoint/2010/main" val="3272871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1"/>
            <a:ext cx="5800217" cy="1577076"/>
          </a:xfrm>
        </p:spPr>
        <p:txBody>
          <a:bodyPr>
            <a:normAutofit/>
          </a:bodyPr>
          <a:lstStyle/>
          <a:p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應力所業師講座</a:t>
            </a:r>
            <a:b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學業與就業的契合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551393" y="4661156"/>
            <a:ext cx="4923359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講者：邱景宏 董事長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鈺太科技 </a:t>
            </a:r>
            <a:r>
              <a:rPr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ZillTek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8115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1"/>
            <a:ext cx="5800217" cy="1577076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Advanced Semiconductor Manufacturing Technology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551393" y="4661156"/>
            <a:ext cx="4923359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講者：沈昌宏 副主任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台灣半導體研究中心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5148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1"/>
            <a:ext cx="5800217" cy="1577076"/>
          </a:xfrm>
        </p:spPr>
        <p:txBody>
          <a:bodyPr>
            <a:noAutofit/>
          </a:bodyPr>
          <a:lstStyle/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校園微電網虛擬電廠</a:t>
            </a:r>
            <a:b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光充儲淨零碳示範場域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551393" y="4661156"/>
            <a:ext cx="522878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講者：羅慶權 助理教授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明志科技大學 電機工程系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5465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rgbClr val="17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rgbClr val="0B2644"/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rgbClr val="0B2644"/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1"/>
            <a:ext cx="5800217" cy="1577076"/>
          </a:xfrm>
        </p:spPr>
        <p:txBody>
          <a:bodyPr>
            <a:noAutofit/>
          </a:bodyPr>
          <a:lstStyle/>
          <a:p>
            <a:r>
              <a:rPr lang="en-US" altLang="zh-TW" sz="44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BioRender 101:</a:t>
            </a:r>
            <a:br>
              <a:rPr lang="en-US" altLang="zh-TW" sz="44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</a:br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Getting started in BioRender</a:t>
            </a:r>
            <a:endParaRPr lang="zh-TW" altLang="en-US" sz="44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410962" y="4661156"/>
            <a:ext cx="5369217" cy="1255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Speaker: Jenn Armstrong</a:t>
            </a:r>
          </a:p>
          <a:p>
            <a:r>
              <a:rPr lang="en-US" altLang="zh-TW" sz="24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		    Customer Success Manager </a:t>
            </a:r>
          </a:p>
          <a:p>
            <a:r>
              <a:rPr lang="en-US" altLang="zh-TW" sz="24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		    </a:t>
            </a:r>
            <a:r>
              <a:rPr lang="en-US" altLang="zh-TW" sz="2400" b="1" i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BioRender</a:t>
            </a:r>
            <a:endParaRPr lang="zh-TW" altLang="en-US" sz="1400" i="1" dirty="0"/>
          </a:p>
        </p:txBody>
      </p:sp>
      <p:pic>
        <p:nvPicPr>
          <p:cNvPr id="1026" name="Picture 2" descr="BioRender">
            <a:extLst>
              <a:ext uri="{FF2B5EF4-FFF2-40B4-BE49-F238E27FC236}">
                <a16:creationId xmlns:a16="http://schemas.microsoft.com/office/drawing/2014/main" id="{A5D209CF-F212-4E9B-955E-052DEABF7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86" y="217235"/>
            <a:ext cx="1733346" cy="1733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FB4AEB7C-78F6-418C-A1F9-61E2F02DA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33048" y="332087"/>
            <a:ext cx="3566766" cy="1913421"/>
          </a:xfrm>
          <a:prstGeom prst="rect">
            <a:avLst/>
          </a:prstGeom>
          <a:solidFill>
            <a:srgbClr val="1755B8"/>
          </a:solidFill>
        </p:spPr>
      </p:pic>
    </p:spTree>
    <p:extLst>
      <p:ext uri="{BB962C8B-B14F-4D97-AF65-F5344CB8AC3E}">
        <p14:creationId xmlns:p14="http://schemas.microsoft.com/office/powerpoint/2010/main" val="3941260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1"/>
            <a:ext cx="5800217" cy="1577076"/>
          </a:xfrm>
        </p:spPr>
        <p:txBody>
          <a:bodyPr>
            <a:noAutofit/>
          </a:bodyPr>
          <a:lstStyle/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奈米結構材料於</a:t>
            </a:r>
            <a:b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能源與催化之應用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206230" y="4661156"/>
            <a:ext cx="5573949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講者：官韋帆 助理教授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長庚大學 化工與材料工程系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5356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1"/>
            <a:ext cx="5800217" cy="1577076"/>
          </a:xfrm>
        </p:spPr>
        <p:txBody>
          <a:bodyPr>
            <a:noAutofit/>
          </a:bodyPr>
          <a:lstStyle/>
          <a:p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Nano-structured Material for Energy and Catalysis Applications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206230" y="4661156"/>
            <a:ext cx="5573949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Speaker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Asst. Prof. Wei-Fan </a:t>
            </a:r>
            <a:r>
              <a:rPr lang="en-US" altLang="zh-TW" sz="36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Kuan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lang="en-US" altLang="zh-TW" sz="2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Chang Gung University</a:t>
            </a:r>
          </a:p>
          <a:p>
            <a:r>
              <a:rPr lang="en-US" altLang="zh-TW" sz="2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lang="en-US" altLang="zh-TW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Department of Chemical and Materials Engineering</a:t>
            </a:r>
            <a:endParaRPr lang="zh-TW" altLang="en-US" sz="29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1603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1"/>
            <a:ext cx="5800217" cy="1577076"/>
          </a:xfrm>
        </p:spPr>
        <p:txBody>
          <a:bodyPr>
            <a:noAutofit/>
          </a:bodyPr>
          <a:lstStyle/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鐵電 </a:t>
            </a:r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HfO2 </a:t>
            </a: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基材的</a:t>
            </a:r>
            <a:b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廣泛應用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206230" y="4661156"/>
            <a:ext cx="5573949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講者：李敏鴻 教授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國立臺灣大學重點科技學院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0465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1"/>
            <a:ext cx="5800217" cy="1577076"/>
          </a:xfrm>
        </p:spPr>
        <p:txBody>
          <a:bodyPr>
            <a:noAutofit/>
          </a:bodyPr>
          <a:lstStyle/>
          <a:p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Versatile Applications of Ferroelectric HfO2-Based Materials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206230" y="4661156"/>
            <a:ext cx="5573949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Speaker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Prof. Min-Hung Lee</a:t>
            </a:r>
          </a:p>
          <a:p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lang="en-US" altLang="zh-TW" sz="2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National Taiwan University</a:t>
            </a:r>
          </a:p>
          <a:p>
            <a:r>
              <a:rPr lang="en-US" altLang="zh-TW" sz="2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lang="en-US" altLang="zh-TW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Graduate School of Advanced Technology</a:t>
            </a:r>
          </a:p>
          <a:p>
            <a:r>
              <a:rPr lang="en-US" altLang="zh-TW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lang="en-US" altLang="zh-TW" sz="1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Program for Semiconductor Devices, Materials, and Hetero-integration</a:t>
            </a:r>
            <a:endParaRPr lang="zh-TW" altLang="en-US" sz="29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8153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1"/>
            <a:ext cx="5800217" cy="1577076"/>
          </a:xfrm>
        </p:spPr>
        <p:txBody>
          <a:bodyPr>
            <a:noAutofit/>
          </a:bodyPr>
          <a:lstStyle/>
          <a:p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Tick Tock Goes The Better Atomic Clock</a:t>
            </a:r>
            <a:endParaRPr lang="zh-TW" altLang="en-US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206230" y="4661156"/>
            <a:ext cx="5573949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講者：陳俊嘉 助理研究員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中央研究院原子與分子科學所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8406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1"/>
            <a:ext cx="5800217" cy="2190190"/>
          </a:xfrm>
        </p:spPr>
        <p:txBody>
          <a:bodyPr>
            <a:noAutofit/>
          </a:bodyPr>
          <a:lstStyle/>
          <a:p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Pioneering Quantum Technology with Advanced long-lived atomic state Control</a:t>
            </a: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74D39164-B51D-4BAF-8518-3E3244F25C2A}"/>
              </a:ext>
            </a:extLst>
          </p:cNvPr>
          <p:cNvSpPr txBox="1">
            <a:spLocks/>
          </p:cNvSpPr>
          <p:nvPr/>
        </p:nvSpPr>
        <p:spPr>
          <a:xfrm>
            <a:off x="979964" y="4661156"/>
            <a:ext cx="580021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Speaker</a:t>
            </a:r>
            <a:r>
              <a:rPr lang="zh-TW" altLang="en-US" sz="5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5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Ph.D. Chun-Chia Chen</a:t>
            </a:r>
          </a:p>
          <a:p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     </a:t>
            </a:r>
            <a:r>
              <a:rPr lang="en-US" altLang="zh-TW" sz="4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Academia </a:t>
            </a:r>
            <a:r>
              <a:rPr lang="en-US" altLang="zh-TW" sz="42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Sinica</a:t>
            </a:r>
            <a:endParaRPr lang="en-US" altLang="zh-TW" sz="4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4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    </a:t>
            </a:r>
            <a:r>
              <a:rPr lang="en-US" altLang="zh-TW" sz="3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Quantum Metrology Group</a:t>
            </a:r>
            <a:endParaRPr lang="en-US" altLang="zh-TW" sz="4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0552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1"/>
            <a:ext cx="5800217" cy="1577076"/>
          </a:xfrm>
        </p:spPr>
        <p:txBody>
          <a:bodyPr>
            <a:no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科學家、發明家、創業家、企業家 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理想很豐滿，現實很？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206230" y="4661156"/>
            <a:ext cx="5573949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講者：周鼎茂 董事長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廣泰金屬工業股份有限公司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2628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0"/>
            <a:ext cx="5800217" cy="1893681"/>
          </a:xfrm>
        </p:spPr>
        <p:txBody>
          <a:bodyPr>
            <a:noAutofit/>
          </a:bodyPr>
          <a:lstStyle/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基於微流體技術之</a:t>
            </a:r>
            <a:b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多重免疫分析晶片與</a:t>
            </a:r>
            <a:b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軟性腦神經探針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206230" y="4661156"/>
            <a:ext cx="5573949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講者：李孟學  助理教授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國立陽明交通大學生物科技系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0828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1"/>
            <a:ext cx="5800217" cy="2190190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Multiplex Immuno-chip and Flexible Neural Probe based on Microfluidic Technology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74D39164-B51D-4BAF-8518-3E3244F25C2A}"/>
              </a:ext>
            </a:extLst>
          </p:cNvPr>
          <p:cNvSpPr txBox="1">
            <a:spLocks/>
          </p:cNvSpPr>
          <p:nvPr/>
        </p:nvSpPr>
        <p:spPr>
          <a:xfrm>
            <a:off x="721695" y="4661156"/>
            <a:ext cx="6184943" cy="1012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TW" sz="5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Speaker</a:t>
            </a:r>
            <a:r>
              <a:rPr lang="zh-TW" altLang="en-US" sz="5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5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Asst. Prof. Meng-Shiue Lee</a:t>
            </a:r>
          </a:p>
          <a:p>
            <a:pPr>
              <a:lnSpc>
                <a:spcPct val="12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National Yang Ming Chiao Yung University </a:t>
            </a:r>
          </a:p>
          <a:p>
            <a:pPr>
              <a:lnSpc>
                <a:spcPct val="12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Institute of Molecular Medicine and Bioengineering</a:t>
            </a:r>
            <a:endParaRPr lang="en-US" altLang="zh-TW" sz="4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91244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rgbClr val="1349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547" y="1986531"/>
            <a:ext cx="5800217" cy="142569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Oral presentation at</a:t>
            </a:r>
            <a:r>
              <a:rPr lang="zh-TW" altLang="en-US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br>
              <a:rPr lang="en-US" altLang="zh-TW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CTAM2024</a:t>
            </a:r>
            <a:r>
              <a:rPr lang="zh-TW" altLang="en-US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&amp; 3rd ICM</a:t>
            </a:r>
            <a:endParaRPr lang="zh-TW" altLang="en-US" sz="4000" b="1" i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74D39164-B51D-4BAF-8518-3E3244F25C2A}"/>
              </a:ext>
            </a:extLst>
          </p:cNvPr>
          <p:cNvSpPr txBox="1">
            <a:spLocks/>
          </p:cNvSpPr>
          <p:nvPr/>
        </p:nvSpPr>
        <p:spPr>
          <a:xfrm>
            <a:off x="829697" y="5348640"/>
            <a:ext cx="5924144" cy="1012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zh-TW" altLang="en-US" sz="5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🧑‍🔬</a:t>
            </a:r>
            <a:r>
              <a:rPr lang="en-US" altLang="zh-TW" sz="5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2024 Conference on Theoretical and Applied Mechanics (CTAM) </a:t>
            </a:r>
          </a:p>
          <a:p>
            <a:pPr>
              <a:lnSpc>
                <a:spcPct val="120000"/>
              </a:lnSpc>
            </a:pPr>
            <a:r>
              <a:rPr lang="zh-TW" altLang="en-US" sz="5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🧑‍🔬</a:t>
            </a:r>
            <a:r>
              <a:rPr lang="en-US" altLang="zh-TW" sz="5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The 3rd International Conference on Mechanics (ICM)</a:t>
            </a:r>
          </a:p>
          <a:p>
            <a:pPr>
              <a:lnSpc>
                <a:spcPct val="120000"/>
              </a:lnSpc>
            </a:pPr>
            <a:r>
              <a:rPr lang="zh-TW" altLang="en-US" sz="5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🗓️</a:t>
            </a:r>
            <a:r>
              <a:rPr lang="en-US" altLang="zh-TW" sz="5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November 29 - 30, 2024</a:t>
            </a:r>
          </a:p>
          <a:p>
            <a:pPr>
              <a:lnSpc>
                <a:spcPct val="120000"/>
              </a:lnSpc>
            </a:pPr>
            <a:r>
              <a:rPr lang="zh-TW" altLang="en-US" sz="5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🏫</a:t>
            </a:r>
            <a:r>
              <a:rPr lang="en-US" altLang="zh-TW" sz="5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National Tsing Hua University (NTHU)</a:t>
            </a:r>
            <a:endParaRPr lang="en-US" altLang="zh-TW" sz="4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FAEDAFBD-B3AF-4325-91E7-92AFC31AE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95" y="953688"/>
            <a:ext cx="3366001" cy="792000"/>
          </a:xfrm>
          <a:prstGeom prst="rect">
            <a:avLst/>
          </a:prstGeom>
          <a:solidFill>
            <a:schemeClr val="bg1">
              <a:alpha val="66000"/>
            </a:schemeClr>
          </a:solidFill>
        </p:spPr>
      </p:pic>
      <p:sp>
        <p:nvSpPr>
          <p:cNvPr id="20" name="標題 1">
            <a:extLst>
              <a:ext uri="{FF2B5EF4-FFF2-40B4-BE49-F238E27FC236}">
                <a16:creationId xmlns:a16="http://schemas.microsoft.com/office/drawing/2014/main" id="{62025EFA-9BB6-470D-9E7D-5504F29F7BE6}"/>
              </a:ext>
            </a:extLst>
          </p:cNvPr>
          <p:cNvSpPr txBox="1">
            <a:spLocks/>
          </p:cNvSpPr>
          <p:nvPr/>
        </p:nvSpPr>
        <p:spPr>
          <a:xfrm>
            <a:off x="699546" y="3739632"/>
            <a:ext cx="5800217" cy="10123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International Symposium:</a:t>
            </a:r>
            <a:b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b="1" i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I007 Self-Powered Sensors and Systems</a:t>
            </a:r>
            <a:endParaRPr lang="zh-TW" altLang="en-US" sz="2800" b="1" i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97347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2022580"/>
            <a:ext cx="5800217" cy="1893681"/>
          </a:xfrm>
        </p:spPr>
        <p:txBody>
          <a:bodyPr>
            <a:noAutofit/>
          </a:bodyPr>
          <a:lstStyle/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高熵合金粉末與其應用於嚴苛環境塗層之研究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206230" y="4661156"/>
            <a:ext cx="5573949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講者：陳士勛 副教授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國立陽明交通大學機械工程系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67489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952" y="2022581"/>
            <a:ext cx="5894961" cy="2190190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High entropy alloy powder and its potential applications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74D39164-B51D-4BAF-8518-3E3244F25C2A}"/>
              </a:ext>
            </a:extLst>
          </p:cNvPr>
          <p:cNvSpPr txBox="1">
            <a:spLocks/>
          </p:cNvSpPr>
          <p:nvPr/>
        </p:nvSpPr>
        <p:spPr>
          <a:xfrm>
            <a:off x="1011677" y="4661156"/>
            <a:ext cx="5894961" cy="1012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TW" sz="5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Speaker</a:t>
            </a:r>
            <a:r>
              <a:rPr lang="zh-TW" altLang="en-US" sz="5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5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Assoc. Prof. Shih-</a:t>
            </a:r>
            <a:r>
              <a:rPr lang="en-US" altLang="zh-TW" sz="55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Hsun</a:t>
            </a:r>
            <a:r>
              <a:rPr lang="en-US" altLang="zh-TW" sz="5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Chen</a:t>
            </a:r>
          </a:p>
          <a:p>
            <a:pPr>
              <a:lnSpc>
                <a:spcPct val="12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National Yang Ming Chiao Yung University </a:t>
            </a:r>
          </a:p>
          <a:p>
            <a:pPr>
              <a:lnSpc>
                <a:spcPct val="12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Department of Mechanical Engineering</a:t>
            </a:r>
            <a:endParaRPr lang="en-US" altLang="zh-TW" sz="4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51772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952" y="1461596"/>
            <a:ext cx="5894961" cy="2751175"/>
          </a:xfrm>
        </p:spPr>
        <p:txBody>
          <a:bodyPr>
            <a:noAutofit/>
          </a:bodyPr>
          <a:lstStyle/>
          <a:p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Thermodynamics-based Machine Learning and Data-driven Computing for Inelastic and Fracture Modeling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74D39164-B51D-4BAF-8518-3E3244F25C2A}"/>
              </a:ext>
            </a:extLst>
          </p:cNvPr>
          <p:cNvSpPr txBox="1">
            <a:spLocks/>
          </p:cNvSpPr>
          <p:nvPr/>
        </p:nvSpPr>
        <p:spPr>
          <a:xfrm>
            <a:off x="829697" y="4661156"/>
            <a:ext cx="6213000" cy="1461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TW" sz="5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Speaker</a:t>
            </a:r>
            <a:r>
              <a:rPr lang="zh-TW" altLang="en-US" sz="5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5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Prof. </a:t>
            </a:r>
            <a:r>
              <a:rPr lang="en-US" altLang="zh-TW" sz="55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Jiun-Shyan</a:t>
            </a:r>
            <a:r>
              <a:rPr lang="en-US" altLang="zh-TW" sz="5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Chen</a:t>
            </a:r>
          </a:p>
          <a:p>
            <a:pPr>
              <a:lnSpc>
                <a:spcPct val="12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University of California, San Diego</a:t>
            </a:r>
          </a:p>
          <a:p>
            <a:pPr>
              <a:lnSpc>
                <a:spcPct val="12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Department of Structural Engineering</a:t>
            </a:r>
          </a:p>
          <a:p>
            <a:pPr>
              <a:lnSpc>
                <a:spcPct val="120000"/>
              </a:lnSpc>
            </a:pP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Department of Mechanical &amp; Aerospace Engineering</a:t>
            </a:r>
            <a:endParaRPr lang="en-US" altLang="zh-TW" sz="4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831973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35" y="1925957"/>
            <a:ext cx="5800217" cy="1893681"/>
          </a:xfrm>
        </p:spPr>
        <p:txBody>
          <a:bodyPr>
            <a:noAutofit/>
          </a:bodyPr>
          <a:lstStyle/>
          <a:p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基於熱力學的機器學習和數據驅動計算，</a:t>
            </a:r>
            <a:b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用於非彈性和斷裂建模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172450" y="4434549"/>
            <a:ext cx="5684110" cy="1503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講者：陳俊賢 教授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加州大學聖地牙哥分校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   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結構工程系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機械與航空航太工程系</a:t>
            </a:r>
          </a:p>
        </p:txBody>
      </p:sp>
    </p:spTree>
    <p:extLst>
      <p:ext uri="{BB962C8B-B14F-4D97-AF65-F5344CB8AC3E}">
        <p14:creationId xmlns:p14="http://schemas.microsoft.com/office/powerpoint/2010/main" val="26224870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rgbClr val="B7B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rgbClr val="347474"/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rgbClr val="347474"/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547" y="3041995"/>
            <a:ext cx="5800217" cy="1080001"/>
          </a:xfrm>
        </p:spPr>
        <p:txBody>
          <a:bodyPr>
            <a:noAutofit/>
          </a:bodyPr>
          <a:lstStyle/>
          <a:p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半導體生涯的教訓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551393" y="4618778"/>
            <a:ext cx="4986125" cy="1503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講者：張忠謀 創辦人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台灣積體電路製造股份有限公司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主持：陳文章 臺灣大學校長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 descr="臺大椰林講座創智系列】台積電張忠謀創辦人20241216">
            <a:extLst>
              <a:ext uri="{FF2B5EF4-FFF2-40B4-BE49-F238E27FC236}">
                <a16:creationId xmlns:a16="http://schemas.microsoft.com/office/drawing/2014/main" id="{BF496B59-B7A2-4006-B4D5-2348196AB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47" y="233580"/>
            <a:ext cx="3869547" cy="2736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9977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rgbClr val="4E32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rgbClr val="985CB0"/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rgbClr val="985CB0"/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775697" y="5332389"/>
            <a:ext cx="2823960" cy="108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🧑‍🔬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National Innovation Award</a:t>
            </a:r>
          </a:p>
          <a:p>
            <a:pPr>
              <a:lnSpc>
                <a:spcPct val="120000"/>
              </a:lnSpc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👨‍💼 第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21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屆國家新創獎</a:t>
            </a:r>
          </a:p>
          <a:p>
            <a:pPr>
              <a:lnSpc>
                <a:spcPct val="120000"/>
              </a:lnSpc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🗓️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December 26, 2024</a:t>
            </a:r>
          </a:p>
          <a:p>
            <a:pPr>
              <a:lnSpc>
                <a:spcPct val="120000"/>
              </a:lnSpc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🏢 臺北漢來飯店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Picture 2" descr="第21屆國家新創獎第一梯次得獎名單｜國家新創獎">
            <a:extLst>
              <a:ext uri="{FF2B5EF4-FFF2-40B4-BE49-F238E27FC236}">
                <a16:creationId xmlns:a16="http://schemas.microsoft.com/office/drawing/2014/main" id="{0CE18B36-E182-4CF9-A8BA-73A555C3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097" y="2103015"/>
            <a:ext cx="5449118" cy="2805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435C1F7-A3A2-47BB-BAE8-ECA4F1F2C7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882" r="25352"/>
          <a:stretch/>
        </p:blipFill>
        <p:spPr>
          <a:xfrm>
            <a:off x="405727" y="354058"/>
            <a:ext cx="2840090" cy="142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736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rgbClr val="C693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5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5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917243" y="5260388"/>
            <a:ext cx="3208908" cy="108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👨‍⚖️高永穎律師 開幕茶會</a:t>
            </a:r>
          </a:p>
          <a:p>
            <a:pPr>
              <a:lnSpc>
                <a:spcPct val="12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🗓️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</a:p>
          <a:p>
            <a:pPr>
              <a:lnSpc>
                <a:spcPct val="12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📍維欣聯合律師事務所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 descr="維欣聯合律師事務所】">
            <a:extLst>
              <a:ext uri="{FF2B5EF4-FFF2-40B4-BE49-F238E27FC236}">
                <a16:creationId xmlns:a16="http://schemas.microsoft.com/office/drawing/2014/main" id="{CB10104D-1516-4E4F-87A9-24955B07DE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2" t="9842" r="4064" b="48392"/>
          <a:stretch/>
        </p:blipFill>
        <p:spPr bwMode="auto">
          <a:xfrm>
            <a:off x="566382" y="468361"/>
            <a:ext cx="4362994" cy="1356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標題 1">
            <a:extLst>
              <a:ext uri="{FF2B5EF4-FFF2-40B4-BE49-F238E27FC236}">
                <a16:creationId xmlns:a16="http://schemas.microsoft.com/office/drawing/2014/main" id="{BD818FCF-2AD6-469A-A2CA-E7F09B0D0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965" y="2593839"/>
            <a:ext cx="5933382" cy="2011633"/>
          </a:xfrm>
        </p:spPr>
        <p:txBody>
          <a:bodyPr>
            <a:noAutofit/>
          </a:bodyPr>
          <a:lstStyle/>
          <a:p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高永穎律師 </a:t>
            </a:r>
            <a:b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律師事務所 開幕茶會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43331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35" y="2518415"/>
            <a:ext cx="5800217" cy="1893681"/>
          </a:xfrm>
        </p:spPr>
        <p:txBody>
          <a:bodyPr>
            <a:noAutofit/>
          </a:bodyPr>
          <a:lstStyle/>
          <a:p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回首跌宕起伏的</a:t>
            </a:r>
            <a:b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流金歲月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172450" y="4392945"/>
            <a:ext cx="5684110" cy="1503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講者：張家歐 名譽教授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臺灣大學 應用力學所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667B310-6710-4198-B122-E33A94F6D7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1000"/>
          </a:blip>
          <a:stretch>
            <a:fillRect/>
          </a:stretch>
        </p:blipFill>
        <p:spPr>
          <a:xfrm>
            <a:off x="261261" y="263124"/>
            <a:ext cx="2541157" cy="1402200"/>
          </a:xfrm>
          <a:prstGeom prst="rect">
            <a:avLst/>
          </a:prstGeom>
        </p:spPr>
      </p:pic>
      <p:sp>
        <p:nvSpPr>
          <p:cNvPr id="14" name="標題 1">
            <a:extLst>
              <a:ext uri="{FF2B5EF4-FFF2-40B4-BE49-F238E27FC236}">
                <a16:creationId xmlns:a16="http://schemas.microsoft.com/office/drawing/2014/main" id="{B55FD61D-76D4-4D60-BA18-85500AFBFEB5}"/>
              </a:ext>
            </a:extLst>
          </p:cNvPr>
          <p:cNvSpPr txBox="1">
            <a:spLocks/>
          </p:cNvSpPr>
          <p:nvPr/>
        </p:nvSpPr>
        <p:spPr>
          <a:xfrm>
            <a:off x="261261" y="1737571"/>
            <a:ext cx="3774342" cy="436035"/>
          </a:xfrm>
          <a:prstGeom prst="rect">
            <a:avLst/>
          </a:prstGeom>
          <a:solidFill>
            <a:srgbClr val="E7CAB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視野與傳承講座</a:t>
            </a:r>
          </a:p>
        </p:txBody>
      </p:sp>
    </p:spTree>
    <p:extLst>
      <p:ext uri="{BB962C8B-B14F-4D97-AF65-F5344CB8AC3E}">
        <p14:creationId xmlns:p14="http://schemas.microsoft.com/office/powerpoint/2010/main" val="20171743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>
              <a:solidFill>
                <a:schemeClr val="bg1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4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35" y="2518415"/>
            <a:ext cx="5800217" cy="1893681"/>
          </a:xfrm>
        </p:spPr>
        <p:txBody>
          <a:bodyPr>
            <a:noAutofit/>
          </a:bodyPr>
          <a:lstStyle/>
          <a:p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路滴脂油恩典重重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172450" y="4392945"/>
            <a:ext cx="5684110" cy="1503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</a:t>
            </a:r>
            <a:r>
              <a:rPr lang="zh-TW" altLang="en-US" sz="36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者：朱錦州 教授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臺灣大學 應用力學所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667B310-6710-4198-B122-E33A94F6D7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1000"/>
          </a:blip>
          <a:stretch>
            <a:fillRect/>
          </a:stretch>
        </p:blipFill>
        <p:spPr>
          <a:xfrm>
            <a:off x="261261" y="263124"/>
            <a:ext cx="2541157" cy="1402200"/>
          </a:xfrm>
          <a:prstGeom prst="rect">
            <a:avLst/>
          </a:prstGeom>
        </p:spPr>
      </p:pic>
      <p:sp>
        <p:nvSpPr>
          <p:cNvPr id="14" name="標題 1">
            <a:extLst>
              <a:ext uri="{FF2B5EF4-FFF2-40B4-BE49-F238E27FC236}">
                <a16:creationId xmlns:a16="http://schemas.microsoft.com/office/drawing/2014/main" id="{B55FD61D-76D4-4D60-BA18-85500AFBFEB5}"/>
              </a:ext>
            </a:extLst>
          </p:cNvPr>
          <p:cNvSpPr txBox="1">
            <a:spLocks/>
          </p:cNvSpPr>
          <p:nvPr/>
        </p:nvSpPr>
        <p:spPr>
          <a:xfrm>
            <a:off x="261261" y="1737571"/>
            <a:ext cx="3774342" cy="436035"/>
          </a:xfrm>
          <a:prstGeom prst="rect">
            <a:avLst/>
          </a:prstGeom>
          <a:solidFill>
            <a:srgbClr val="E7CAB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視野與傳承講座</a:t>
            </a:r>
          </a:p>
        </p:txBody>
      </p:sp>
    </p:spTree>
    <p:extLst>
      <p:ext uri="{BB962C8B-B14F-4D97-AF65-F5344CB8AC3E}">
        <p14:creationId xmlns:p14="http://schemas.microsoft.com/office/powerpoint/2010/main" val="725830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latin typeface="+mn-lt"/>
              </a:rPr>
              <a:t>Lily C.C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21696" y="2755247"/>
            <a:ext cx="5753056" cy="131063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1: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latin typeface="+mn-lt"/>
              </a:rPr>
              <a:t>What is Professionalism?</a:t>
            </a:r>
            <a:endParaRPr lang="zh-TW" altLang="en-US" sz="9600" b="1" i="1" dirty="0">
              <a:latin typeface="+mn-lt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8560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latin typeface="+mn-lt"/>
              </a:rPr>
              <a:t>Lily C.C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75696" y="2545351"/>
            <a:ext cx="5951607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2-1: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effectLst/>
                <a:latin typeface="+mn-lt"/>
              </a:rPr>
              <a:t>Essential Soft Skills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effectLst/>
                <a:latin typeface="+mn-lt"/>
              </a:rPr>
              <a:t>Towards Professionalism</a:t>
            </a:r>
          </a:p>
        </p:txBody>
      </p:sp>
    </p:spTree>
    <p:extLst>
      <p:ext uri="{BB962C8B-B14F-4D97-AF65-F5344CB8AC3E}">
        <p14:creationId xmlns:p14="http://schemas.microsoft.com/office/powerpoint/2010/main" val="39007488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latin typeface="+mn-lt"/>
              </a:rPr>
              <a:t>Lily C.C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75696" y="2545351"/>
            <a:ext cx="5951607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2-2: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effectLst/>
                <a:latin typeface="+mn-lt"/>
              </a:rPr>
              <a:t>Networking Skills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effectLst/>
                <a:latin typeface="+mn-lt"/>
              </a:rPr>
              <a:t>In The Academia</a:t>
            </a:r>
          </a:p>
        </p:txBody>
      </p:sp>
    </p:spTree>
    <p:extLst>
      <p:ext uri="{BB962C8B-B14F-4D97-AF65-F5344CB8AC3E}">
        <p14:creationId xmlns:p14="http://schemas.microsoft.com/office/powerpoint/2010/main" val="10948166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latin typeface="+mn-lt"/>
              </a:rPr>
              <a:t>Lily C.C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665864" y="2521564"/>
            <a:ext cx="6533448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3-1: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effectLst/>
                <a:latin typeface="+mn-lt"/>
              </a:rPr>
              <a:t>Build your networking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effectLst/>
                <a:latin typeface="+mn-lt"/>
              </a:rPr>
              <a:t>before you need it!</a:t>
            </a:r>
          </a:p>
        </p:txBody>
      </p:sp>
    </p:spTree>
    <p:extLst>
      <p:ext uri="{BB962C8B-B14F-4D97-AF65-F5344CB8AC3E}">
        <p14:creationId xmlns:p14="http://schemas.microsoft.com/office/powerpoint/2010/main" val="39490673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latin typeface="+mn-lt"/>
              </a:rPr>
              <a:t>Lily C.C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665864" y="2521564"/>
            <a:ext cx="6533448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3-2: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effectLst/>
                <a:latin typeface="+mn-lt"/>
              </a:rPr>
              <a:t>How to do your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effectLst/>
                <a:latin typeface="+mn-lt"/>
              </a:rPr>
              <a:t>self-introduction?</a:t>
            </a:r>
          </a:p>
        </p:txBody>
      </p:sp>
    </p:spTree>
    <p:extLst>
      <p:ext uri="{BB962C8B-B14F-4D97-AF65-F5344CB8AC3E}">
        <p14:creationId xmlns:p14="http://schemas.microsoft.com/office/powerpoint/2010/main" val="2467586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latin typeface="+mn-lt"/>
              </a:rPr>
              <a:t>Lily C.C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665864" y="2521564"/>
            <a:ext cx="6533448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4-1: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4400" b="1" dirty="0">
                <a:effectLst/>
                <a:latin typeface="+mn-lt"/>
              </a:rPr>
              <a:t>Active Listening strategies</a:t>
            </a:r>
          </a:p>
        </p:txBody>
      </p:sp>
    </p:spTree>
    <p:extLst>
      <p:ext uri="{BB962C8B-B14F-4D97-AF65-F5344CB8AC3E}">
        <p14:creationId xmlns:p14="http://schemas.microsoft.com/office/powerpoint/2010/main" val="32942245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latin typeface="+mn-lt"/>
              </a:rPr>
              <a:t>Lily C.C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665864" y="2521564"/>
            <a:ext cx="6533448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</a:t>
            </a:r>
            <a:r>
              <a:rPr lang="en-US" altLang="zh-TW" sz="3600" b="1" i="1" dirty="0">
                <a:latin typeface="+mn-lt"/>
              </a:rPr>
              <a:t>4-2</a:t>
            </a:r>
            <a:r>
              <a:rPr lang="en-US" altLang="zh-TW" sz="3600" b="1" i="1" dirty="0">
                <a:effectLst/>
                <a:latin typeface="+mn-lt"/>
              </a:rPr>
              <a:t>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4400" b="1" dirty="0">
                <a:effectLst/>
                <a:latin typeface="+mn-lt"/>
              </a:rPr>
              <a:t>The elements of a </a:t>
            </a:r>
          </a:p>
          <a:p>
            <a:pPr>
              <a:lnSpc>
                <a:spcPct val="100000"/>
              </a:lnSpc>
            </a:pPr>
            <a:r>
              <a:rPr lang="en-US" altLang="zh-TW" sz="4400" b="1" dirty="0">
                <a:effectLst/>
                <a:latin typeface="+mn-lt"/>
              </a:rPr>
              <a:t>successful elevator pitch</a:t>
            </a:r>
          </a:p>
        </p:txBody>
      </p:sp>
    </p:spTree>
    <p:extLst>
      <p:ext uri="{BB962C8B-B14F-4D97-AF65-F5344CB8AC3E}">
        <p14:creationId xmlns:p14="http://schemas.microsoft.com/office/powerpoint/2010/main" val="121168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5037207" cy="67848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altLang="zh-TW" sz="2400" b="1" i="1" dirty="0">
                <a:latin typeface="+mn-lt"/>
              </a:rPr>
              <a:t>English Writing for Academic Purposes</a:t>
            </a:r>
            <a:endParaRPr lang="zh-TW" altLang="en-US" sz="4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solidFill>
                  <a:schemeClr val="bg1"/>
                </a:solidFill>
                <a:latin typeface="+mn-lt"/>
              </a:rPr>
              <a:t>Lily C.C Chen</a:t>
            </a:r>
            <a:endParaRPr lang="en-US" altLang="zh-TW" sz="32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75696" y="2545351"/>
            <a:ext cx="5951607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Course 1:</a:t>
            </a: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An approach to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Academic writing</a:t>
            </a:r>
          </a:p>
        </p:txBody>
      </p:sp>
    </p:spTree>
    <p:extLst>
      <p:ext uri="{BB962C8B-B14F-4D97-AF65-F5344CB8AC3E}">
        <p14:creationId xmlns:p14="http://schemas.microsoft.com/office/powerpoint/2010/main" val="30993208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5037207" cy="67848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altLang="zh-TW" sz="2400" b="1" i="1" dirty="0">
                <a:latin typeface="+mn-lt"/>
              </a:rPr>
              <a:t>English Writing for Academic Purposes</a:t>
            </a:r>
            <a:endParaRPr lang="zh-TW" altLang="en-US" sz="4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solidFill>
                  <a:schemeClr val="bg1"/>
                </a:solidFill>
                <a:latin typeface="+mn-lt"/>
              </a:rPr>
              <a:t>Lily C.C Chen</a:t>
            </a:r>
            <a:endParaRPr lang="en-US" altLang="zh-TW" sz="32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75696" y="2545351"/>
            <a:ext cx="5951607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Course </a:t>
            </a:r>
            <a:r>
              <a:rPr lang="en-US" altLang="zh-TW" sz="3600" b="1" i="1" dirty="0">
                <a:solidFill>
                  <a:schemeClr val="bg1"/>
                </a:solidFill>
                <a:latin typeface="+mn-lt"/>
              </a:rPr>
              <a:t>2-1</a:t>
            </a: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:</a:t>
            </a: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How to Structure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9114888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5037207" cy="67848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altLang="zh-TW" sz="2400" b="1" i="1" dirty="0">
                <a:latin typeface="+mn-lt"/>
              </a:rPr>
              <a:t>English Writing for Academic Purposes</a:t>
            </a:r>
            <a:endParaRPr lang="zh-TW" altLang="en-US" sz="4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2985424" y="4816804"/>
            <a:ext cx="3499055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TA </a:t>
            </a:r>
            <a:r>
              <a:rPr lang="zh-TW" altLang="en-US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林嘉誠 </a:t>
            </a:r>
            <a:r>
              <a:rPr lang="en-US" altLang="zh-TW" sz="24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Bill</a:t>
            </a:r>
            <a:r>
              <a:rPr lang="en-US" altLang="zh-TW" sz="2400" b="1" dirty="0">
                <a:solidFill>
                  <a:schemeClr val="bg1"/>
                </a:solidFill>
                <a:latin typeface="+mn-lt"/>
              </a:rPr>
              <a:t> J.C Lin</a:t>
            </a:r>
            <a:endParaRPr lang="en-US" altLang="zh-TW" sz="32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      </a:t>
            </a:r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NTU IAM</a:t>
            </a:r>
            <a:endParaRPr lang="zh-TW" altLang="en-US" sz="3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75696" y="2545351"/>
            <a:ext cx="5951607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Course </a:t>
            </a:r>
            <a:r>
              <a:rPr lang="en-US" altLang="zh-TW" sz="3600" b="1" i="1" dirty="0">
                <a:solidFill>
                  <a:schemeClr val="bg1"/>
                </a:solidFill>
                <a:latin typeface="+mn-lt"/>
              </a:rPr>
              <a:t>2-2</a:t>
            </a: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:</a:t>
            </a: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Writing General to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Specific Texts</a:t>
            </a:r>
          </a:p>
        </p:txBody>
      </p:sp>
    </p:spTree>
    <p:extLst>
      <p:ext uri="{BB962C8B-B14F-4D97-AF65-F5344CB8AC3E}">
        <p14:creationId xmlns:p14="http://schemas.microsoft.com/office/powerpoint/2010/main" val="6568132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5037207" cy="67848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altLang="zh-TW" sz="2400" b="1" i="1" dirty="0">
                <a:latin typeface="+mn-lt"/>
              </a:rPr>
              <a:t>English Writing for Academic Purposes</a:t>
            </a:r>
            <a:endParaRPr lang="zh-TW" altLang="en-US" sz="4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solidFill>
                  <a:schemeClr val="bg1"/>
                </a:solidFill>
                <a:latin typeface="+mn-lt"/>
              </a:rPr>
              <a:t>Lily C.C Chen</a:t>
            </a:r>
            <a:endParaRPr lang="en-US" altLang="zh-TW" sz="32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75696" y="2346043"/>
            <a:ext cx="5951607" cy="21163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New course </a:t>
            </a:r>
            <a:r>
              <a:rPr lang="en-US" altLang="zh-TW" sz="3600" b="1" i="1" dirty="0">
                <a:solidFill>
                  <a:schemeClr val="bg1"/>
                </a:solidFill>
                <a:latin typeface="+mn-lt"/>
              </a:rPr>
              <a:t>7</a:t>
            </a: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:</a:t>
            </a: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AI-Assisted Academic Writing:  Enhancing Productivity &amp; Ensuring Integrity</a:t>
            </a:r>
          </a:p>
        </p:txBody>
      </p:sp>
    </p:spTree>
    <p:extLst>
      <p:ext uri="{BB962C8B-B14F-4D97-AF65-F5344CB8AC3E}">
        <p14:creationId xmlns:p14="http://schemas.microsoft.com/office/powerpoint/2010/main" val="18792772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896895" y="4816804"/>
            <a:ext cx="4685574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陳翊齊 </a:t>
            </a:r>
            <a:r>
              <a:rPr lang="en-US" altLang="zh-TW" sz="2400" b="1" dirty="0">
                <a:latin typeface="+mn-lt"/>
              </a:rPr>
              <a:t>Freddy Y.C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665864" y="2521564"/>
            <a:ext cx="6225442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7: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4400" b="1" dirty="0">
                <a:effectLst/>
                <a:latin typeface="+mn-lt"/>
              </a:rPr>
              <a:t>Cultural Appropriateness </a:t>
            </a:r>
          </a:p>
          <a:p>
            <a:pPr>
              <a:lnSpc>
                <a:spcPct val="100000"/>
              </a:lnSpc>
            </a:pPr>
            <a:r>
              <a:rPr lang="en-US" altLang="zh-TW" sz="4400" b="1" dirty="0">
                <a:effectLst/>
                <a:latin typeface="+mn-lt"/>
              </a:rPr>
              <a:t>in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3025027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887167" y="4816804"/>
            <a:ext cx="4695302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陳翊齊 </a:t>
            </a:r>
            <a:r>
              <a:rPr lang="en-US" altLang="zh-TW" sz="2400" b="1" dirty="0">
                <a:latin typeface="+mn-lt"/>
              </a:rPr>
              <a:t>Freddy Y.C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665864" y="2521564"/>
            <a:ext cx="6225442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8-1: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effectLst/>
                <a:latin typeface="+mn-lt"/>
              </a:rPr>
              <a:t>Make your presentation shine</a:t>
            </a:r>
          </a:p>
        </p:txBody>
      </p:sp>
    </p:spTree>
    <p:extLst>
      <p:ext uri="{BB962C8B-B14F-4D97-AF65-F5344CB8AC3E}">
        <p14:creationId xmlns:p14="http://schemas.microsoft.com/office/powerpoint/2010/main" val="8248025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867711" y="4816804"/>
            <a:ext cx="4714757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陳翊齊 </a:t>
            </a:r>
            <a:r>
              <a:rPr lang="en-US" altLang="zh-TW" sz="2400" b="1" dirty="0">
                <a:latin typeface="+mn-lt"/>
              </a:rPr>
              <a:t>Freddy Y.C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665864" y="2521564"/>
            <a:ext cx="6225442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8-2: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4400" b="1" dirty="0">
                <a:effectLst/>
                <a:latin typeface="+mn-lt"/>
              </a:rPr>
              <a:t>The end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688788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877439" y="4816804"/>
            <a:ext cx="4705030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陳翊齊 </a:t>
            </a:r>
            <a:r>
              <a:rPr lang="en-US" altLang="zh-TW" sz="2400" b="1" dirty="0">
                <a:latin typeface="+mn-lt"/>
              </a:rPr>
              <a:t>Freddy Y.C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665864" y="2521564"/>
            <a:ext cx="6225442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9-1: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effectLst/>
                <a:latin typeface="+mn-lt"/>
              </a:rPr>
              <a:t>Chairing a Conference Session: Guidelines and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20420488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896895" y="4816804"/>
            <a:ext cx="4685574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陳翊齊 </a:t>
            </a:r>
            <a:r>
              <a:rPr lang="en-US" altLang="zh-TW" sz="2400" b="1" dirty="0">
                <a:latin typeface="+mn-lt"/>
              </a:rPr>
              <a:t>Freddy Y.C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665864" y="2521564"/>
            <a:ext cx="6225442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</a:t>
            </a:r>
            <a:r>
              <a:rPr lang="en-US" altLang="zh-TW" sz="3600" b="1" i="1" dirty="0">
                <a:latin typeface="+mn-lt"/>
              </a:rPr>
              <a:t>9</a:t>
            </a:r>
            <a:r>
              <a:rPr lang="en-US" altLang="zh-TW" sz="3600" b="1" i="1" dirty="0">
                <a:effectLst/>
                <a:latin typeface="+mn-lt"/>
              </a:rPr>
              <a:t>-2: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4000" b="1" dirty="0">
                <a:effectLst/>
                <a:latin typeface="+mn-lt"/>
              </a:rPr>
              <a:t>Brief Research Stories </a:t>
            </a:r>
          </a:p>
        </p:txBody>
      </p:sp>
    </p:spTree>
    <p:extLst>
      <p:ext uri="{BB962C8B-B14F-4D97-AF65-F5344CB8AC3E}">
        <p14:creationId xmlns:p14="http://schemas.microsoft.com/office/powerpoint/2010/main" val="3564082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5037207" cy="67848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altLang="zh-TW" sz="2400" b="1" i="1" dirty="0">
                <a:latin typeface="+mn-lt"/>
              </a:rPr>
              <a:t>English Writing for Academic Purposes</a:t>
            </a:r>
            <a:endParaRPr lang="zh-TW" altLang="en-US" sz="4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solidFill>
                  <a:schemeClr val="bg1"/>
                </a:solidFill>
                <a:latin typeface="+mn-lt"/>
              </a:rPr>
              <a:t>Lily C.C Chen</a:t>
            </a:r>
            <a:endParaRPr lang="en-US" altLang="zh-TW" sz="32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75696" y="2346043"/>
            <a:ext cx="5951607" cy="21163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New course 10:</a:t>
            </a: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ChatGPT for Academic Writing</a:t>
            </a:r>
          </a:p>
        </p:txBody>
      </p:sp>
    </p:spTree>
    <p:extLst>
      <p:ext uri="{BB962C8B-B14F-4D97-AF65-F5344CB8AC3E}">
        <p14:creationId xmlns:p14="http://schemas.microsoft.com/office/powerpoint/2010/main" val="33855197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5037207" cy="67848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altLang="zh-TW" sz="2400" b="1" i="1" dirty="0">
                <a:latin typeface="+mn-lt"/>
              </a:rPr>
              <a:t>English Writing for Academic Purposes</a:t>
            </a:r>
            <a:endParaRPr lang="zh-TW" altLang="en-US" sz="4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solidFill>
                  <a:schemeClr val="bg1"/>
                </a:solidFill>
                <a:latin typeface="+mn-lt"/>
              </a:rPr>
              <a:t>Lily C.C Chen</a:t>
            </a:r>
            <a:endParaRPr lang="en-US" altLang="zh-TW" sz="32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75696" y="2346043"/>
            <a:ext cx="5951607" cy="21163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New course 10-1:</a:t>
            </a: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ChatGPT for Academic Writing </a:t>
            </a:r>
            <a:r>
              <a:rPr lang="en-US" altLang="zh-TW" sz="2800" b="1" i="1" dirty="0">
                <a:solidFill>
                  <a:schemeClr val="bg1"/>
                </a:solidFill>
                <a:effectLst/>
                <a:latin typeface="+mn-lt"/>
              </a:rPr>
              <a:t>- Staged Prompting</a:t>
            </a:r>
            <a:endParaRPr lang="en-US" altLang="zh-TW" sz="3600" b="1" i="1" dirty="0"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75260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5037207" cy="67848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altLang="zh-TW" sz="2400" b="1" i="1" dirty="0">
                <a:latin typeface="+mn-lt"/>
              </a:rPr>
              <a:t>English Writing for Academic Purposes</a:t>
            </a:r>
            <a:endParaRPr lang="zh-TW" altLang="en-US" sz="4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solidFill>
                  <a:schemeClr val="bg1"/>
                </a:solidFill>
                <a:latin typeface="+mn-lt"/>
              </a:rPr>
              <a:t>Lily C.C Chen</a:t>
            </a:r>
            <a:endParaRPr lang="en-US" altLang="zh-TW" sz="32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75696" y="2230765"/>
            <a:ext cx="5951607" cy="247076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New course 10-2:</a:t>
            </a: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ChatGPT for Academic Writing </a:t>
            </a:r>
          </a:p>
          <a:p>
            <a:pPr>
              <a:lnSpc>
                <a:spcPct val="100000"/>
              </a:lnSpc>
            </a:pPr>
            <a:r>
              <a:rPr lang="en-US" altLang="zh-TW" sz="2800" b="1" i="1" dirty="0">
                <a:solidFill>
                  <a:schemeClr val="bg1"/>
                </a:solidFill>
                <a:effectLst/>
                <a:latin typeface="+mn-lt"/>
              </a:rPr>
              <a:t>- Custom Instructions, Memory, and Revision Commentary</a:t>
            </a:r>
          </a:p>
        </p:txBody>
      </p:sp>
    </p:spTree>
    <p:extLst>
      <p:ext uri="{BB962C8B-B14F-4D97-AF65-F5344CB8AC3E}">
        <p14:creationId xmlns:p14="http://schemas.microsoft.com/office/powerpoint/2010/main" val="23937403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896895" y="4816804"/>
            <a:ext cx="4685574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陳翊齊 </a:t>
            </a:r>
            <a:r>
              <a:rPr lang="en-US" altLang="zh-TW" sz="2400" b="1" dirty="0">
                <a:latin typeface="+mn-lt"/>
              </a:rPr>
              <a:t>Freddy Y.C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665864" y="2521564"/>
            <a:ext cx="6225442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</a:t>
            </a:r>
            <a:r>
              <a:rPr lang="en-US" altLang="zh-TW" sz="3600" b="1" i="1" dirty="0">
                <a:latin typeface="+mn-lt"/>
              </a:rPr>
              <a:t>10</a:t>
            </a:r>
            <a:r>
              <a:rPr lang="en-US" altLang="zh-TW" sz="3600" b="1" i="1" dirty="0">
                <a:effectLst/>
                <a:latin typeface="+mn-lt"/>
              </a:rPr>
              <a:t>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effectLst/>
                <a:latin typeface="+mn-lt"/>
              </a:rPr>
              <a:t>Properties of Human Language</a:t>
            </a:r>
          </a:p>
        </p:txBody>
      </p:sp>
    </p:spTree>
    <p:extLst>
      <p:ext uri="{BB962C8B-B14F-4D97-AF65-F5344CB8AC3E}">
        <p14:creationId xmlns:p14="http://schemas.microsoft.com/office/powerpoint/2010/main" val="31689519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5037207" cy="67848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altLang="zh-TW" sz="2400" b="1" i="1" dirty="0">
                <a:latin typeface="+mn-lt"/>
              </a:rPr>
              <a:t>English Writing for Academic Purposes</a:t>
            </a:r>
            <a:endParaRPr lang="zh-TW" altLang="en-US" sz="4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solidFill>
                  <a:schemeClr val="bg1"/>
                </a:solidFill>
                <a:latin typeface="+mn-lt"/>
              </a:rPr>
              <a:t>Lily C.C Chen</a:t>
            </a:r>
            <a:endParaRPr lang="en-US" altLang="zh-TW" sz="32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75696" y="2346043"/>
            <a:ext cx="5951607" cy="21163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New course 11-1:</a:t>
            </a: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4800" b="1" dirty="0">
                <a:solidFill>
                  <a:schemeClr val="bg1"/>
                </a:solidFill>
                <a:effectLst/>
                <a:latin typeface="+mn-lt"/>
              </a:rPr>
              <a:t>Napkin AI for charting</a:t>
            </a:r>
            <a:endParaRPr lang="en-US" altLang="zh-TW" sz="4800" b="1" i="1" dirty="0"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1026" name="Picture 2" descr="Napkin AI is Powered by CRV">
            <a:extLst>
              <a:ext uri="{FF2B5EF4-FFF2-40B4-BE49-F238E27FC236}">
                <a16:creationId xmlns:a16="http://schemas.microsoft.com/office/drawing/2014/main" id="{CC7CAA86-3EA1-4B25-8F13-27359DE37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18" y="350900"/>
            <a:ext cx="2404116" cy="867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6658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5037207" cy="67848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altLang="zh-TW" sz="2400" b="1" i="1" dirty="0">
                <a:latin typeface="+mn-lt"/>
              </a:rPr>
              <a:t>English Writing for Academic Purposes</a:t>
            </a:r>
            <a:endParaRPr lang="zh-TW" altLang="en-US" sz="4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solidFill>
                  <a:schemeClr val="bg1"/>
                </a:solidFill>
                <a:latin typeface="+mn-lt"/>
              </a:rPr>
              <a:t>Lily C.C Chen</a:t>
            </a:r>
            <a:endParaRPr lang="en-US" altLang="zh-TW" sz="32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75696" y="2346043"/>
            <a:ext cx="5951607" cy="21163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New course 11-2:</a:t>
            </a: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4800" b="1" dirty="0">
                <a:solidFill>
                  <a:schemeClr val="bg1"/>
                </a:solidFill>
                <a:effectLst/>
                <a:latin typeface="+mn-lt"/>
              </a:rPr>
              <a:t>Designing a Winning 3MT Slide</a:t>
            </a:r>
            <a:endParaRPr lang="en-US" altLang="zh-TW" sz="4800" b="1" i="1" dirty="0"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06385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692613" y="4816804"/>
            <a:ext cx="488985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熊宜君 </a:t>
            </a:r>
            <a:r>
              <a:rPr lang="en-US" altLang="zh-TW" sz="2400" b="1" dirty="0">
                <a:latin typeface="+mn-lt"/>
              </a:rPr>
              <a:t>Angela Y.J </a:t>
            </a:r>
            <a:r>
              <a:rPr lang="en-US" altLang="zh-TW" sz="2400" b="1" dirty="0" err="1">
                <a:latin typeface="+mn-lt"/>
              </a:rPr>
              <a:t>Shiung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665864" y="2521564"/>
            <a:ext cx="6225442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</a:t>
            </a:r>
            <a:r>
              <a:rPr lang="en-US" altLang="zh-TW" sz="3600" b="1" i="1" dirty="0">
                <a:latin typeface="+mn-lt"/>
              </a:rPr>
              <a:t>13</a:t>
            </a:r>
            <a:r>
              <a:rPr lang="en-US" altLang="zh-TW" sz="3600" b="1" i="1" dirty="0">
                <a:effectLst/>
                <a:latin typeface="+mn-lt"/>
              </a:rPr>
              <a:t>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effectLst/>
                <a:latin typeface="+mn-lt"/>
              </a:rPr>
              <a:t>Describing where you stand: Academic profiles</a:t>
            </a:r>
          </a:p>
        </p:txBody>
      </p:sp>
    </p:spTree>
    <p:extLst>
      <p:ext uri="{BB962C8B-B14F-4D97-AF65-F5344CB8AC3E}">
        <p14:creationId xmlns:p14="http://schemas.microsoft.com/office/powerpoint/2010/main" val="4674518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692613" y="4816804"/>
            <a:ext cx="488985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熊宜君 </a:t>
            </a:r>
            <a:r>
              <a:rPr lang="en-US" altLang="zh-TW" sz="2400" b="1" dirty="0">
                <a:latin typeface="+mn-lt"/>
              </a:rPr>
              <a:t>Angela Y.J </a:t>
            </a:r>
            <a:r>
              <a:rPr lang="en-US" altLang="zh-TW" sz="2400" b="1" dirty="0" err="1">
                <a:latin typeface="+mn-lt"/>
              </a:rPr>
              <a:t>Shiung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665864" y="2521564"/>
            <a:ext cx="6225442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</a:t>
            </a:r>
            <a:r>
              <a:rPr lang="en-US" altLang="zh-TW" sz="3600" b="1" i="1" dirty="0">
                <a:latin typeface="+mn-lt"/>
              </a:rPr>
              <a:t>14</a:t>
            </a:r>
            <a:r>
              <a:rPr lang="en-US" altLang="zh-TW" sz="3600" b="1" i="1" dirty="0">
                <a:effectLst/>
                <a:latin typeface="+mn-lt"/>
              </a:rPr>
              <a:t>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4800" b="1" dirty="0">
                <a:effectLst/>
                <a:latin typeface="+mn-lt"/>
              </a:rPr>
              <a:t>Writing your professional bio</a:t>
            </a:r>
          </a:p>
        </p:txBody>
      </p:sp>
    </p:spTree>
    <p:extLst>
      <p:ext uri="{BB962C8B-B14F-4D97-AF65-F5344CB8AC3E}">
        <p14:creationId xmlns:p14="http://schemas.microsoft.com/office/powerpoint/2010/main" val="42345433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5037207" cy="67848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altLang="zh-TW" sz="2400" b="1" i="1" dirty="0">
                <a:latin typeface="+mn-lt"/>
              </a:rPr>
              <a:t>English Writing for Academic Purposes</a:t>
            </a:r>
            <a:endParaRPr lang="zh-TW" altLang="en-US" sz="4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solidFill>
                  <a:schemeClr val="bg1"/>
                </a:solidFill>
                <a:latin typeface="+mn-lt"/>
              </a:rPr>
              <a:t>Lily C.C Chen</a:t>
            </a:r>
            <a:endParaRPr lang="en-US" altLang="zh-TW" sz="32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75696" y="2346043"/>
            <a:ext cx="5951607" cy="21163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New course 15:</a:t>
            </a: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6000" b="1" dirty="0">
                <a:solidFill>
                  <a:schemeClr val="bg1"/>
                </a:solidFill>
                <a:effectLst/>
                <a:latin typeface="+mn-lt"/>
              </a:rPr>
              <a:t>Video Abstract</a:t>
            </a:r>
            <a:endParaRPr lang="en-US" altLang="zh-TW" sz="6000" b="1" i="1" dirty="0"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64629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692613" y="4816804"/>
            <a:ext cx="488985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熊宜君 </a:t>
            </a:r>
            <a:r>
              <a:rPr lang="en-US" altLang="zh-TW" sz="2400" b="1" dirty="0">
                <a:latin typeface="+mn-lt"/>
              </a:rPr>
              <a:t>Angela Y.J </a:t>
            </a:r>
            <a:r>
              <a:rPr lang="en-US" altLang="zh-TW" sz="2400" b="1" dirty="0" err="1">
                <a:latin typeface="+mn-lt"/>
              </a:rPr>
              <a:t>Shiung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665864" y="2521564"/>
            <a:ext cx="6225442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</a:t>
            </a:r>
            <a:r>
              <a:rPr lang="en-US" altLang="zh-TW" sz="3600" b="1" i="1" dirty="0">
                <a:latin typeface="+mn-lt"/>
              </a:rPr>
              <a:t>15</a:t>
            </a:r>
            <a:r>
              <a:rPr lang="en-US" altLang="zh-TW" sz="3600" b="1" i="1" dirty="0">
                <a:effectLst/>
                <a:latin typeface="+mn-lt"/>
              </a:rPr>
              <a:t>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4800" b="1" dirty="0">
                <a:effectLst/>
                <a:latin typeface="+mn-lt"/>
              </a:rPr>
              <a:t>Responding to Journal Reviewers and Editors</a:t>
            </a:r>
          </a:p>
        </p:txBody>
      </p:sp>
    </p:spTree>
    <p:extLst>
      <p:ext uri="{BB962C8B-B14F-4D97-AF65-F5344CB8AC3E}">
        <p14:creationId xmlns:p14="http://schemas.microsoft.com/office/powerpoint/2010/main" val="26358300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accent6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325830"/>
            <a:ext cx="4457785" cy="67848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692613" y="4816804"/>
            <a:ext cx="488985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熊宜君 </a:t>
            </a:r>
            <a:r>
              <a:rPr lang="en-US" altLang="zh-TW" sz="2400" b="1" dirty="0">
                <a:latin typeface="+mn-lt"/>
              </a:rPr>
              <a:t>Angela Y.J </a:t>
            </a:r>
            <a:r>
              <a:rPr lang="en-US" altLang="zh-TW" sz="2400" b="1" dirty="0" err="1">
                <a:latin typeface="+mn-lt"/>
              </a:rPr>
              <a:t>Shiung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665864" y="2521564"/>
            <a:ext cx="6225442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</a:t>
            </a:r>
            <a:r>
              <a:rPr lang="en-US" altLang="zh-TW" sz="3600" b="1" i="1" dirty="0">
                <a:latin typeface="+mn-lt"/>
              </a:rPr>
              <a:t>16</a:t>
            </a:r>
            <a:r>
              <a:rPr lang="en-US" altLang="zh-TW" sz="3600" b="1" i="1" dirty="0">
                <a:effectLst/>
                <a:latin typeface="+mn-lt"/>
              </a:rPr>
              <a:t>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4800" b="1" dirty="0">
                <a:effectLst/>
                <a:latin typeface="+mn-lt"/>
              </a:rPr>
              <a:t>Conveying Your Ideas in Different Scenarios</a:t>
            </a:r>
          </a:p>
        </p:txBody>
      </p:sp>
    </p:spTree>
    <p:extLst>
      <p:ext uri="{BB962C8B-B14F-4D97-AF65-F5344CB8AC3E}">
        <p14:creationId xmlns:p14="http://schemas.microsoft.com/office/powerpoint/2010/main" val="11844499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bg1">
              <a:lumMod val="6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bg1">
              <a:lumMod val="6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934797"/>
            <a:ext cx="5037207" cy="67848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r>
              <a:rPr lang="en-US" altLang="zh-TW" sz="2400" b="1" i="1" dirty="0">
                <a:latin typeface="+mn-lt"/>
              </a:rPr>
              <a:t>English Writing for Academic Purposes</a:t>
            </a:r>
            <a:endParaRPr lang="zh-TW" altLang="en-US" sz="4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latin typeface="+mn-lt"/>
              </a:rPr>
              <a:t>Lily C.C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81176" y="2673185"/>
            <a:ext cx="5946128" cy="21163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New course 10-1: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5400" b="1" dirty="0">
                <a:effectLst/>
                <a:latin typeface="+mn-lt"/>
              </a:rPr>
              <a:t>ChatGPT: </a:t>
            </a:r>
          </a:p>
          <a:p>
            <a:pPr>
              <a:lnSpc>
                <a:spcPct val="100000"/>
              </a:lnSpc>
            </a:pPr>
            <a:r>
              <a:rPr lang="en-US" altLang="zh-TW" sz="4300" b="1" dirty="0">
                <a:effectLst/>
                <a:latin typeface="+mn-lt"/>
              </a:rPr>
              <a:t>Reply by staged prompting</a:t>
            </a:r>
            <a:endParaRPr lang="en-US" altLang="zh-TW" sz="3500" b="1" i="1" dirty="0">
              <a:effectLst/>
              <a:latin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7CAA86-3EA1-4B25-8F13-27359DE37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8703" y="237573"/>
            <a:ext cx="2824891" cy="158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2156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bg1">
              <a:lumMod val="6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bg1">
              <a:lumMod val="6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934797"/>
            <a:ext cx="5037207" cy="67848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r>
              <a:rPr lang="en-US" altLang="zh-TW" sz="2400" b="1" i="1" dirty="0">
                <a:latin typeface="+mn-lt"/>
              </a:rPr>
              <a:t>English Writing for Academic Purposes</a:t>
            </a:r>
            <a:endParaRPr lang="zh-TW" altLang="en-US" sz="4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latin typeface="+mn-lt"/>
              </a:rPr>
              <a:t>Lily C.C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81176" y="2673185"/>
            <a:ext cx="5946128" cy="21163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New course 10-2: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5400" b="1" dirty="0">
                <a:effectLst/>
                <a:latin typeface="+mn-lt"/>
              </a:rPr>
              <a:t>ChatGPT </a:t>
            </a:r>
          </a:p>
          <a:p>
            <a:pPr>
              <a:lnSpc>
                <a:spcPct val="100000"/>
              </a:lnSpc>
            </a:pPr>
            <a:r>
              <a:rPr lang="en-US" altLang="zh-TW" sz="4400" b="1" i="1" dirty="0">
                <a:effectLst/>
                <a:latin typeface="+mn-lt"/>
              </a:rPr>
              <a:t>- </a:t>
            </a:r>
            <a:r>
              <a:rPr lang="en-US" altLang="zh-TW" sz="3600" b="1" i="1" dirty="0">
                <a:effectLst/>
                <a:latin typeface="+mn-lt"/>
              </a:rPr>
              <a:t>Custom Instructions, Memory, and Revision Commentary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7CAA86-3EA1-4B25-8F13-27359DE37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8703" y="237573"/>
            <a:ext cx="2824891" cy="158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0365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26076" y="5143808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solidFill>
                  <a:schemeClr val="bg1"/>
                </a:solidFill>
                <a:latin typeface="+mn-lt"/>
              </a:rPr>
              <a:t>Lily C.C Chen</a:t>
            </a:r>
            <a:endParaRPr lang="en-US" altLang="zh-TW" sz="32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829697" y="2938835"/>
            <a:ext cx="5951607" cy="21163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New course </a:t>
            </a:r>
            <a:r>
              <a:rPr lang="en-US" altLang="zh-TW" sz="3600" b="1" i="1" dirty="0">
                <a:solidFill>
                  <a:schemeClr val="bg1"/>
                </a:solidFill>
                <a:latin typeface="+mn-lt"/>
              </a:rPr>
              <a:t>7-2</a:t>
            </a: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:</a:t>
            </a: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4400" b="1" dirty="0">
                <a:solidFill>
                  <a:schemeClr val="bg1"/>
                </a:solidFill>
                <a:effectLst/>
                <a:latin typeface="+mn-lt"/>
              </a:rPr>
              <a:t>SciSpace: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AI Chat for scientific PDFs</a:t>
            </a:r>
          </a:p>
        </p:txBody>
      </p:sp>
      <p:pic>
        <p:nvPicPr>
          <p:cNvPr id="3074" name="Picture 2" descr="Scispace Now Available - Your new AI Research Companion! | Singapore  Management University (SMU)">
            <a:extLst>
              <a:ext uri="{FF2B5EF4-FFF2-40B4-BE49-F238E27FC236}">
                <a16:creationId xmlns:a16="http://schemas.microsoft.com/office/drawing/2014/main" id="{79C231F9-F943-4BBB-A071-C26E4CF84A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8" t="24458" r="25222" b="27175"/>
          <a:stretch/>
        </p:blipFill>
        <p:spPr bwMode="auto">
          <a:xfrm>
            <a:off x="303849" y="258920"/>
            <a:ext cx="3447650" cy="1828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群組 14">
            <a:extLst>
              <a:ext uri="{FF2B5EF4-FFF2-40B4-BE49-F238E27FC236}">
                <a16:creationId xmlns:a16="http://schemas.microsoft.com/office/drawing/2014/main" id="{8CBEF46E-870F-4AB9-AECC-BCBFBB7DBB0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bg1">
              <a:lumMod val="75000"/>
            </a:schemeClr>
          </a:solidFill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A361FC0-3495-4884-B93C-23A482689152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78E1743-D8BA-4C00-9601-49C873D4539A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1D5DAB0B-30FB-466A-8B60-6DAE71EFCC00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bg1">
              <a:lumMod val="75000"/>
            </a:schemeClr>
          </a:solidFill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2DF37E3-9161-496D-B01F-0E0E8C16BF07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1215E80-884D-4EDA-B870-496C1062B46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2" name="標題 1">
            <a:extLst>
              <a:ext uri="{FF2B5EF4-FFF2-40B4-BE49-F238E27FC236}">
                <a16:creationId xmlns:a16="http://schemas.microsoft.com/office/drawing/2014/main" id="{A6BC8214-1A02-438E-88B4-9A9A4AA81765}"/>
              </a:ext>
            </a:extLst>
          </p:cNvPr>
          <p:cNvSpPr txBox="1">
            <a:spLocks/>
          </p:cNvSpPr>
          <p:nvPr/>
        </p:nvSpPr>
        <p:spPr>
          <a:xfrm>
            <a:off x="829697" y="2051662"/>
            <a:ext cx="5147210" cy="67848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i="1" dirty="0">
                <a:solidFill>
                  <a:schemeClr val="bg1"/>
                </a:solidFill>
                <a:latin typeface="+mn-lt"/>
              </a:rPr>
              <a:t>English Writing for Academic Purposes</a:t>
            </a:r>
            <a:endParaRPr lang="zh-TW" altLang="en-US" sz="4400" b="1" i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70327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bg1">
              <a:lumMod val="6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bg1">
              <a:lumMod val="6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934797"/>
            <a:ext cx="5037207" cy="678489"/>
          </a:xfrm>
          <a:solidFill>
            <a:schemeClr val="bg1">
              <a:lumMod val="65000"/>
            </a:schemeClr>
          </a:solidFill>
        </p:spPr>
        <p:txBody>
          <a:bodyPr>
            <a:noAutofit/>
          </a:bodyPr>
          <a:lstStyle/>
          <a:p>
            <a:r>
              <a:rPr lang="en-US" altLang="zh-TW" sz="2400" b="1" i="1" dirty="0">
                <a:latin typeface="+mn-lt"/>
              </a:rPr>
              <a:t>English Writing for Academic Purposes</a:t>
            </a:r>
            <a:endParaRPr lang="zh-TW" altLang="en-US" sz="4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935804" y="4816804"/>
            <a:ext cx="454867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陳巧玲 </a:t>
            </a:r>
            <a:r>
              <a:rPr lang="en-US" altLang="zh-TW" sz="2400" b="1" dirty="0">
                <a:latin typeface="+mn-lt"/>
              </a:rPr>
              <a:t>Lily C.C Chen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781176" y="2673185"/>
            <a:ext cx="5946128" cy="21163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New course 11-1: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4800" b="1" dirty="0">
                <a:effectLst/>
                <a:latin typeface="+mn-lt"/>
              </a:rPr>
              <a:t>Napkin AI:</a:t>
            </a:r>
          </a:p>
          <a:p>
            <a:pPr>
              <a:lnSpc>
                <a:spcPct val="100000"/>
              </a:lnSpc>
            </a:pPr>
            <a:r>
              <a:rPr lang="en-US" altLang="zh-TW" sz="3200" b="1" i="1" dirty="0">
                <a:latin typeface="+mn-lt"/>
              </a:rPr>
              <a:t>V</a:t>
            </a:r>
            <a:r>
              <a:rPr lang="en-US" altLang="zh-TW" sz="3200" b="1" i="1" dirty="0">
                <a:effectLst/>
                <a:latin typeface="+mn-lt"/>
              </a:rPr>
              <a:t>isual AI for business storytelling</a:t>
            </a:r>
          </a:p>
        </p:txBody>
      </p:sp>
      <p:pic>
        <p:nvPicPr>
          <p:cNvPr id="1026" name="Picture 2" descr="Napkin AI is Powered by CRV">
            <a:extLst>
              <a:ext uri="{FF2B5EF4-FFF2-40B4-BE49-F238E27FC236}">
                <a16:creationId xmlns:a16="http://schemas.microsoft.com/office/drawing/2014/main" id="{CC7CAA86-3EA1-4B25-8F13-27359DE37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95" y="242898"/>
            <a:ext cx="3985457" cy="143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4426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1CB907-144C-4191-B803-C15188231F12}"/>
              </a:ext>
            </a:extLst>
          </p:cNvPr>
          <p:cNvSpPr/>
          <p:nvPr/>
        </p:nvSpPr>
        <p:spPr>
          <a:xfrm>
            <a:off x="-1" y="0"/>
            <a:ext cx="7199313" cy="7199313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bg1">
              <a:lumMod val="7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bg1">
              <a:lumMod val="7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2050" name="Picture 2" descr="God of Prompt">
            <a:extLst>
              <a:ext uri="{FF2B5EF4-FFF2-40B4-BE49-F238E27FC236}">
                <a16:creationId xmlns:a16="http://schemas.microsoft.com/office/drawing/2014/main" id="{16F8585E-59A4-4BD0-A4EE-32E98549DD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38" b="14301"/>
          <a:stretch/>
        </p:blipFill>
        <p:spPr bwMode="auto">
          <a:xfrm>
            <a:off x="378572" y="264741"/>
            <a:ext cx="2143125" cy="158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標題 1">
            <a:extLst>
              <a:ext uri="{FF2B5EF4-FFF2-40B4-BE49-F238E27FC236}">
                <a16:creationId xmlns:a16="http://schemas.microsoft.com/office/drawing/2014/main" id="{7F0413D6-C537-4FE8-8EC4-003F068F11B2}"/>
              </a:ext>
            </a:extLst>
          </p:cNvPr>
          <p:cNvSpPr txBox="1">
            <a:spLocks/>
          </p:cNvSpPr>
          <p:nvPr/>
        </p:nvSpPr>
        <p:spPr>
          <a:xfrm>
            <a:off x="829697" y="2051662"/>
            <a:ext cx="4457785" cy="67848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b="1" i="1" dirty="0">
                <a:solidFill>
                  <a:schemeClr val="bg1"/>
                </a:solidFill>
                <a:latin typeface="+mn-lt"/>
              </a:rPr>
              <a:t>Professionalism in Action</a:t>
            </a:r>
            <a:endParaRPr lang="zh-TW" altLang="en-US" sz="5400" b="1" i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7" name="標題 1">
            <a:extLst>
              <a:ext uri="{FF2B5EF4-FFF2-40B4-BE49-F238E27FC236}">
                <a16:creationId xmlns:a16="http://schemas.microsoft.com/office/drawing/2014/main" id="{D18648A1-8F65-4EC6-B7D9-ED8DD00FAA62}"/>
              </a:ext>
            </a:extLst>
          </p:cNvPr>
          <p:cNvSpPr txBox="1">
            <a:spLocks/>
          </p:cNvSpPr>
          <p:nvPr/>
        </p:nvSpPr>
        <p:spPr>
          <a:xfrm>
            <a:off x="1840308" y="5133702"/>
            <a:ext cx="488985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熊宜君 </a:t>
            </a:r>
            <a:r>
              <a:rPr lang="en-US" altLang="zh-TW" sz="2400" b="1" dirty="0">
                <a:solidFill>
                  <a:schemeClr val="bg1"/>
                </a:solidFill>
                <a:latin typeface="+mn-lt"/>
              </a:rPr>
              <a:t>Angela Y.J </a:t>
            </a:r>
            <a:r>
              <a:rPr lang="en-US" altLang="zh-TW" sz="2400" b="1" dirty="0" err="1">
                <a:solidFill>
                  <a:schemeClr val="bg1"/>
                </a:solidFill>
                <a:latin typeface="+mn-lt"/>
              </a:rPr>
              <a:t>Shiung</a:t>
            </a:r>
            <a:endParaRPr lang="en-US" altLang="zh-TW" sz="32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8" name="標題 1">
            <a:extLst>
              <a:ext uri="{FF2B5EF4-FFF2-40B4-BE49-F238E27FC236}">
                <a16:creationId xmlns:a16="http://schemas.microsoft.com/office/drawing/2014/main" id="{B5D36C43-0ED9-4B7D-A198-8F814BD44B3E}"/>
              </a:ext>
            </a:extLst>
          </p:cNvPr>
          <p:cNvSpPr txBox="1">
            <a:spLocks/>
          </p:cNvSpPr>
          <p:nvPr/>
        </p:nvSpPr>
        <p:spPr>
          <a:xfrm>
            <a:off x="721696" y="2930498"/>
            <a:ext cx="6225442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Course </a:t>
            </a:r>
            <a:r>
              <a:rPr lang="en-US" altLang="zh-TW" sz="3600" b="1" i="1" dirty="0">
                <a:solidFill>
                  <a:schemeClr val="bg1"/>
                </a:solidFill>
                <a:latin typeface="+mn-lt"/>
              </a:rPr>
              <a:t>16-3</a:t>
            </a:r>
            <a:r>
              <a:rPr lang="en-US" altLang="zh-TW" sz="3600" b="1" i="1" dirty="0">
                <a:solidFill>
                  <a:schemeClr val="bg1"/>
                </a:solidFill>
                <a:effectLst/>
                <a:latin typeface="+mn-lt"/>
              </a:rPr>
              <a:t>:</a:t>
            </a: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4400" b="1" dirty="0">
                <a:solidFill>
                  <a:schemeClr val="bg1"/>
                </a:solidFill>
                <a:effectLst/>
                <a:latin typeface="+mn-lt"/>
              </a:rPr>
              <a:t>God of Prompt: </a:t>
            </a:r>
          </a:p>
          <a:p>
            <a:pPr>
              <a:lnSpc>
                <a:spcPct val="100000"/>
              </a:lnSpc>
            </a:pPr>
            <a:r>
              <a:rPr lang="en-US" altLang="zh-TW" sz="3600" b="1" dirty="0">
                <a:solidFill>
                  <a:schemeClr val="bg1"/>
                </a:solidFill>
                <a:effectLst/>
                <a:latin typeface="+mn-lt"/>
              </a:rPr>
              <a:t>Best AI Prompts for ChatGPT</a:t>
            </a:r>
          </a:p>
        </p:txBody>
      </p:sp>
    </p:spTree>
    <p:extLst>
      <p:ext uri="{BB962C8B-B14F-4D97-AF65-F5344CB8AC3E}">
        <p14:creationId xmlns:p14="http://schemas.microsoft.com/office/powerpoint/2010/main" val="8330527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6907AD3C-C349-4997-9C92-67C174527C4A}"/>
              </a:ext>
            </a:extLst>
          </p:cNvPr>
          <p:cNvGrpSpPr/>
          <p:nvPr/>
        </p:nvGrpSpPr>
        <p:grpSpPr>
          <a:xfrm>
            <a:off x="2874752" y="676798"/>
            <a:ext cx="3600000" cy="1152000"/>
            <a:chOff x="2699654" y="661479"/>
            <a:chExt cx="3600000" cy="115200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0D5962-9203-4255-8AEE-E851E73E0A9C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233BB6-DBCC-4158-8659-A278411B296B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D0DA0BA-86F8-4340-B863-AB1FA5E1EB5A}"/>
              </a:ext>
            </a:extLst>
          </p:cNvPr>
          <p:cNvGrpSpPr/>
          <p:nvPr/>
        </p:nvGrpSpPr>
        <p:grpSpPr>
          <a:xfrm rot="10800000">
            <a:off x="721697" y="5374419"/>
            <a:ext cx="3600000" cy="1152000"/>
            <a:chOff x="2699654" y="661479"/>
            <a:chExt cx="3600000" cy="115200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7E862-2A54-4A81-B565-5C40943607BD}"/>
                </a:ext>
              </a:extLst>
            </p:cNvPr>
            <p:cNvSpPr/>
            <p:nvPr/>
          </p:nvSpPr>
          <p:spPr>
            <a:xfrm>
              <a:off x="2699654" y="661479"/>
              <a:ext cx="36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AC9DB1B-683D-4C56-BCB2-EAC710B8E673}"/>
                </a:ext>
              </a:extLst>
            </p:cNvPr>
            <p:cNvSpPr/>
            <p:nvPr/>
          </p:nvSpPr>
          <p:spPr>
            <a:xfrm>
              <a:off x="6191654" y="733479"/>
              <a:ext cx="108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標題 1">
            <a:extLst>
              <a:ext uri="{FF2B5EF4-FFF2-40B4-BE49-F238E27FC236}">
                <a16:creationId xmlns:a16="http://schemas.microsoft.com/office/drawing/2014/main" id="{8DCA6DFA-9E2A-4632-8F83-17AFCDB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96" y="1958176"/>
            <a:ext cx="4457785" cy="678489"/>
          </a:xfrm>
          <a:solidFill>
            <a:schemeClr val="bg1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en-US" altLang="zh-TW" sz="3200" b="1" i="1" dirty="0">
                <a:latin typeface="+mn-lt"/>
              </a:rPr>
              <a:t>Professionalism in Action</a:t>
            </a:r>
            <a:endParaRPr lang="zh-TW" altLang="en-US" sz="5400" b="1" i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3C96D499-9F1C-44E9-A802-90FDACBCAD9A}"/>
              </a:ext>
            </a:extLst>
          </p:cNvPr>
          <p:cNvSpPr txBox="1">
            <a:spLocks/>
          </p:cNvSpPr>
          <p:nvPr/>
        </p:nvSpPr>
        <p:spPr>
          <a:xfrm>
            <a:off x="1840308" y="5133702"/>
            <a:ext cx="4889856" cy="1084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Prof.</a:t>
            </a:r>
            <a:r>
              <a:rPr lang="zh-TW" altLang="en-US" sz="3600" b="1" dirty="0">
                <a:latin typeface="+mn-lt"/>
                <a:ea typeface="微軟正黑體" panose="020B0604030504040204" pitchFamily="34" charset="-120"/>
              </a:rPr>
              <a:t> 熊宜君 </a:t>
            </a:r>
            <a:r>
              <a:rPr lang="en-US" altLang="zh-TW" sz="2400" b="1" dirty="0">
                <a:latin typeface="+mn-lt"/>
              </a:rPr>
              <a:t>Angela Y.J </a:t>
            </a:r>
            <a:r>
              <a:rPr lang="en-US" altLang="zh-TW" sz="2400" b="1" dirty="0" err="1">
                <a:latin typeface="+mn-lt"/>
              </a:rPr>
              <a:t>Shiung</a:t>
            </a:r>
            <a:endParaRPr lang="en-US" altLang="zh-TW" sz="3200" b="1" dirty="0"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sz="3200" b="1" dirty="0">
                <a:latin typeface="+mn-lt"/>
                <a:ea typeface="微軟正黑體" panose="020B0604030504040204" pitchFamily="34" charset="-120"/>
              </a:rPr>
              <a:t>           </a:t>
            </a:r>
            <a:r>
              <a:rPr lang="en-US" altLang="zh-TW" sz="3600" b="1" dirty="0">
                <a:latin typeface="+mn-lt"/>
                <a:ea typeface="微軟正黑體" panose="020B0604030504040204" pitchFamily="34" charset="-120"/>
              </a:rPr>
              <a:t>NTU AWEC</a:t>
            </a:r>
            <a:endParaRPr lang="zh-TW" altLang="en-US" sz="3600" b="1" dirty="0"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2A1BE279-FE8D-4D24-9D17-5E67C569422F}"/>
              </a:ext>
            </a:extLst>
          </p:cNvPr>
          <p:cNvSpPr txBox="1">
            <a:spLocks/>
          </p:cNvSpPr>
          <p:nvPr/>
        </p:nvSpPr>
        <p:spPr>
          <a:xfrm>
            <a:off x="587972" y="2872798"/>
            <a:ext cx="6142192" cy="191705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3600" b="1" i="1" dirty="0">
                <a:effectLst/>
                <a:latin typeface="+mn-lt"/>
              </a:rPr>
              <a:t>Course </a:t>
            </a:r>
            <a:r>
              <a:rPr lang="en-US" altLang="zh-TW" sz="3600" b="1" i="1" dirty="0">
                <a:latin typeface="+mn-lt"/>
              </a:rPr>
              <a:t>16-2</a:t>
            </a:r>
            <a:r>
              <a:rPr lang="en-US" altLang="zh-TW" sz="3600" b="1" i="1" dirty="0">
                <a:effectLst/>
                <a:latin typeface="+mn-lt"/>
              </a:rPr>
              <a:t>:</a:t>
            </a:r>
            <a:r>
              <a:rPr lang="en-US" altLang="zh-TW" sz="3600" b="1" dirty="0"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zh-TW" sz="5800" b="1" dirty="0" err="1">
                <a:effectLst/>
                <a:latin typeface="+mn-lt"/>
              </a:rPr>
              <a:t>Litmaps</a:t>
            </a:r>
            <a:r>
              <a:rPr lang="en-US" altLang="zh-TW" sz="5800" b="1" dirty="0">
                <a:effectLst/>
                <a:latin typeface="+mn-lt"/>
              </a:rPr>
              <a:t>: </a:t>
            </a:r>
          </a:p>
          <a:p>
            <a:pPr>
              <a:lnSpc>
                <a:spcPct val="100000"/>
              </a:lnSpc>
            </a:pPr>
            <a:r>
              <a:rPr lang="en-US" altLang="zh-TW" sz="4100" b="1" dirty="0">
                <a:effectLst/>
                <a:latin typeface="+mn-lt"/>
              </a:rPr>
              <a:t>Your Literature Review Assistant</a:t>
            </a:r>
          </a:p>
        </p:txBody>
      </p:sp>
      <p:pic>
        <p:nvPicPr>
          <p:cNvPr id="1028" name="Picture 4" descr="Litmaps">
            <a:extLst>
              <a:ext uri="{FF2B5EF4-FFF2-40B4-BE49-F238E27FC236}">
                <a16:creationId xmlns:a16="http://schemas.microsoft.com/office/drawing/2014/main" id="{68A83A59-5FEE-41A1-9BB3-3453C26EC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11" y="263389"/>
            <a:ext cx="4487585" cy="1302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530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4FCC49-ACAB-4027-BD4F-D36B9C0CC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FC046B-725C-45CB-9B37-A63F42E34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4470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872</TotalTime>
  <Words>1817</Words>
  <Application>Microsoft Office PowerPoint</Application>
  <PresentationFormat>自訂</PresentationFormat>
  <Paragraphs>310</Paragraphs>
  <Slides>72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72</vt:i4>
      </vt:variant>
    </vt:vector>
  </HeadingPairs>
  <TitlesOfParts>
    <vt:vector size="77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Foodocol</vt:lpstr>
      <vt:lpstr>Emouter</vt:lpstr>
      <vt:lpstr>PowerPoint 簡報</vt:lpstr>
      <vt:lpstr>PowerPoint 簡報</vt:lpstr>
      <vt:lpstr>Acknowledger</vt:lpstr>
      <vt:lpstr>PowerPoint 簡報</vt:lpstr>
      <vt:lpstr>PowerPoint 簡報</vt:lpstr>
      <vt:lpstr>Just want to share some acknowledge for you!</vt:lpstr>
      <vt:lpstr>科學是確定的嗎？ 我們的態度</vt:lpstr>
      <vt:lpstr>AI Wings:  AI無人機之現況與展望</vt:lpstr>
      <vt:lpstr>鈣鈦礦太陽能電池在 太空應用的機會與挑戰</vt:lpstr>
      <vt:lpstr>The Future of Sensors - AI Sensor Applications in Edge Computing</vt:lpstr>
      <vt:lpstr>同儕間親密互動 vs.  性騷擾</vt:lpstr>
      <vt:lpstr>製程監控之少量樣本學習</vt:lpstr>
      <vt:lpstr>應力所業師講座 學業與就業的契合</vt:lpstr>
      <vt:lpstr>Advanced Semiconductor Manufacturing Technology</vt:lpstr>
      <vt:lpstr>校園微電網虛擬電廠 光充儲淨零碳示範場域</vt:lpstr>
      <vt:lpstr>BioRender 101: Getting started in BioRender</vt:lpstr>
      <vt:lpstr>奈米結構材料於 能源與催化之應用</vt:lpstr>
      <vt:lpstr>Nano-structured Material for Energy and Catalysis Applications</vt:lpstr>
      <vt:lpstr>鐵電 HfO2 基材的 廣泛應用</vt:lpstr>
      <vt:lpstr>Versatile Applications of Ferroelectric HfO2-Based Materials</vt:lpstr>
      <vt:lpstr>Tick Tock Goes The Better Atomic Clock</vt:lpstr>
      <vt:lpstr>Pioneering Quantum Technology with Advanced long-lived atomic state Control</vt:lpstr>
      <vt:lpstr>科學家、發明家、創業家、企業家 - 理想很豐滿，現實很？</vt:lpstr>
      <vt:lpstr>基於微流體技術之 多重免疫分析晶片與 軟性腦神經探針</vt:lpstr>
      <vt:lpstr>Multiplex Immuno-chip and Flexible Neural Probe based on Microfluidic Technology</vt:lpstr>
      <vt:lpstr>Oral presentation at  CTAM2024 &amp; 3rd ICM</vt:lpstr>
      <vt:lpstr>高熵合金粉末與其應用於嚴苛環境塗層之研究</vt:lpstr>
      <vt:lpstr>High entropy alloy powder and its potential applications</vt:lpstr>
      <vt:lpstr>Thermodynamics-based Machine Learning and Data-driven Computing for Inelastic and Fracture Modeling</vt:lpstr>
      <vt:lpstr>基於熱力學的機器學習和數據驅動計算， 用於非彈性和斷裂建模</vt:lpstr>
      <vt:lpstr>半導體生涯的教訓</vt:lpstr>
      <vt:lpstr>PowerPoint 簡報</vt:lpstr>
      <vt:lpstr>高永穎律師  律師事務所 開幕茶會</vt:lpstr>
      <vt:lpstr>回首跌宕起伏的 流金歲月</vt:lpstr>
      <vt:lpstr>路滴脂油恩典重重</vt:lpstr>
      <vt:lpstr>Professionalism in Action</vt:lpstr>
      <vt:lpstr>Professionalism in Action</vt:lpstr>
      <vt:lpstr>Professionalism in Action</vt:lpstr>
      <vt:lpstr>Professionalism in Action</vt:lpstr>
      <vt:lpstr>Professionalism in Action</vt:lpstr>
      <vt:lpstr>Professionalism in Action</vt:lpstr>
      <vt:lpstr>Professionalism in Action</vt:lpstr>
      <vt:lpstr>English Writing for Academic Purposes</vt:lpstr>
      <vt:lpstr>English Writing for Academic Purposes</vt:lpstr>
      <vt:lpstr>English Writing for Academic Purposes</vt:lpstr>
      <vt:lpstr>English Writing for Academic Purposes</vt:lpstr>
      <vt:lpstr>Professionalism in Action</vt:lpstr>
      <vt:lpstr>Professionalism in Action</vt:lpstr>
      <vt:lpstr>Professionalism in Action</vt:lpstr>
      <vt:lpstr>Professionalism in Action</vt:lpstr>
      <vt:lpstr>Professionalism in Action</vt:lpstr>
      <vt:lpstr>English Writing for Academic Purposes</vt:lpstr>
      <vt:lpstr>English Writing for Academic Purposes</vt:lpstr>
      <vt:lpstr>English Writing for Academic Purposes</vt:lpstr>
      <vt:lpstr>Professionalism in Action</vt:lpstr>
      <vt:lpstr>English Writing for Academic Purposes</vt:lpstr>
      <vt:lpstr>English Writing for Academic Purposes</vt:lpstr>
      <vt:lpstr>Professionalism in Action</vt:lpstr>
      <vt:lpstr>Professionalism in Action</vt:lpstr>
      <vt:lpstr>English Writing for Academic Purposes</vt:lpstr>
      <vt:lpstr>Professionalism in Action</vt:lpstr>
      <vt:lpstr>Professionalism in Action</vt:lpstr>
      <vt:lpstr>English Writing for Academic Purposes</vt:lpstr>
      <vt:lpstr>English Writing for Academic Purposes</vt:lpstr>
      <vt:lpstr>PowerPoint 簡報</vt:lpstr>
      <vt:lpstr>English Writing for Academic Purposes</vt:lpstr>
      <vt:lpstr>PowerPoint 簡報</vt:lpstr>
      <vt:lpstr>Professionalism in Action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嘉誠 林</dc:creator>
  <cp:lastModifiedBy>嘉誠 林</cp:lastModifiedBy>
  <cp:revision>56</cp:revision>
  <dcterms:created xsi:type="dcterms:W3CDTF">2024-05-05T06:14:09Z</dcterms:created>
  <dcterms:modified xsi:type="dcterms:W3CDTF">2025-05-10T13:13:50Z</dcterms:modified>
</cp:coreProperties>
</file>